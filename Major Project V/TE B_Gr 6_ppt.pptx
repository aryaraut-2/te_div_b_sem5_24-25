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9"/>
  </p:notesMasterIdLst>
  <p:sldIdLst>
    <p:sldId id="263" r:id="rId2"/>
    <p:sldId id="314" r:id="rId3"/>
    <p:sldId id="258" r:id="rId4"/>
    <p:sldId id="259" r:id="rId5"/>
    <p:sldId id="260" r:id="rId6"/>
    <p:sldId id="280" r:id="rId7"/>
    <p:sldId id="261" r:id="rId8"/>
    <p:sldId id="311" r:id="rId9"/>
    <p:sldId id="262" r:id="rId10"/>
    <p:sldId id="287" r:id="rId11"/>
    <p:sldId id="312" r:id="rId12"/>
    <p:sldId id="288" r:id="rId13"/>
    <p:sldId id="289" r:id="rId14"/>
    <p:sldId id="290" r:id="rId15"/>
    <p:sldId id="291" r:id="rId16"/>
    <p:sldId id="292" r:id="rId17"/>
    <p:sldId id="293" r:id="rId18"/>
    <p:sldId id="294" r:id="rId19"/>
    <p:sldId id="295" r:id="rId20"/>
    <p:sldId id="296" r:id="rId21"/>
    <p:sldId id="297" r:id="rId22"/>
    <p:sldId id="298" r:id="rId23"/>
    <p:sldId id="299" r:id="rId24"/>
    <p:sldId id="300" r:id="rId25"/>
    <p:sldId id="301" r:id="rId26"/>
    <p:sldId id="302" r:id="rId27"/>
    <p:sldId id="303" r:id="rId28"/>
    <p:sldId id="304" r:id="rId29"/>
    <p:sldId id="305" r:id="rId30"/>
    <p:sldId id="306" r:id="rId31"/>
    <p:sldId id="307" r:id="rId32"/>
    <p:sldId id="308" r:id="rId33"/>
    <p:sldId id="309" r:id="rId34"/>
    <p:sldId id="310" r:id="rId35"/>
    <p:sldId id="266" r:id="rId36"/>
    <p:sldId id="268" r:id="rId37"/>
    <p:sldId id="313"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4660"/>
  </p:normalViewPr>
  <p:slideViewPr>
    <p:cSldViewPr snapToGrid="0">
      <p:cViewPr varScale="1">
        <p:scale>
          <a:sx n="78" d="100"/>
          <a:sy n="78" d="100"/>
        </p:scale>
        <p:origin x="1032"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A100B0-4A80-4606-85C3-797DC34A4CC3}" type="datetimeFigureOut">
              <a:rPr lang="en-IN" smtClean="0"/>
              <a:t>01-09-2024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AE04D5-AC0B-4369-A827-6C406E7127A4}" type="slidenum">
              <a:rPr lang="en-IN" smtClean="0"/>
              <a:t>‹#›</a:t>
            </a:fld>
            <a:endParaRPr lang="en-IN"/>
          </a:p>
        </p:txBody>
      </p:sp>
    </p:spTree>
    <p:extLst>
      <p:ext uri="{BB962C8B-B14F-4D97-AF65-F5344CB8AC3E}">
        <p14:creationId xmlns:p14="http://schemas.microsoft.com/office/powerpoint/2010/main" val="3330529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6AE04D5-AC0B-4369-A827-6C406E7127A4}" type="slidenum">
              <a:rPr lang="en-IN" smtClean="0"/>
              <a:t>9</a:t>
            </a:fld>
            <a:endParaRPr lang="en-IN"/>
          </a:p>
        </p:txBody>
      </p:sp>
    </p:spTree>
    <p:extLst>
      <p:ext uri="{BB962C8B-B14F-4D97-AF65-F5344CB8AC3E}">
        <p14:creationId xmlns:p14="http://schemas.microsoft.com/office/powerpoint/2010/main" val="15339750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9/1/2024</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9/1/2024</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9/1/2024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9/1/2024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9/1/2024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9/1/2024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9/1/2024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9/1/2024</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9/1/2024</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BFF4F9-9017-CCD4-8016-4F65C66D82DA}"/>
              </a:ext>
            </a:extLst>
          </p:cNvPr>
          <p:cNvSpPr>
            <a:spLocks noChangeArrowheads="1"/>
          </p:cNvSpPr>
          <p:nvPr/>
        </p:nvSpPr>
        <p:spPr bwMode="auto">
          <a:xfrm>
            <a:off x="1999325" y="1895835"/>
            <a:ext cx="9070975" cy="4962165"/>
          </a:xfrm>
          <a:prstGeom prst="rect">
            <a:avLst/>
          </a:prstGeom>
          <a:noFill/>
          <a:ln>
            <a:noFill/>
          </a:ln>
          <a:effectLst/>
        </p:spPr>
        <p:txBody>
          <a:bodyPr lIns="0" tIns="31680" rIns="0" bIns="0" anchor="ctr"/>
          <a:lstStyle>
            <a:lvl1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1pPr>
            <a:lvl2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2pPr>
            <a:lvl3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3pPr>
            <a:lvl4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4pPr>
            <a:lvl5pPr>
              <a:lnSpc>
                <a:spcPct val="93000"/>
              </a:lnSpc>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5pPr>
            <a:lvl6pPr marL="25146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6pPr>
            <a:lvl7pPr marL="29718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7pPr>
            <a:lvl8pPr marL="34290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8pPr>
            <a:lvl9pPr marL="3886200" indent="-228600" defTabSz="449263" eaLnBrk="0"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Lst>
              <a:defRPr>
                <a:solidFill>
                  <a:schemeClr val="tx1"/>
                </a:solidFill>
                <a:latin typeface="Arial" panose="020B0604020202020204" pitchFamily="34" charset="0"/>
                <a:cs typeface="Noto Sans CJK SC Regular" charset="0"/>
              </a:defRPr>
            </a:lvl9pPr>
          </a:lstStyle>
          <a:p>
            <a:pPr algn="ctr" eaLnBrk="1" fontAlgn="auto" hangingPunct="1">
              <a:spcBef>
                <a:spcPts val="0"/>
              </a:spcBef>
              <a:spcAft>
                <a:spcPts val="0"/>
              </a:spcAft>
              <a:defRPr/>
            </a:pPr>
            <a:r>
              <a:rPr lang="en-IN" altLang="en-US" sz="36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Sentiment Analysis Using NLP</a:t>
            </a:r>
          </a:p>
          <a:p>
            <a:pPr algn="ctr" eaLnBrk="1" fontAlgn="auto" hangingPunct="1">
              <a:spcBef>
                <a:spcPts val="0"/>
              </a:spcBef>
              <a:spcAft>
                <a:spcPts val="0"/>
              </a:spcAft>
              <a:defRPr/>
            </a:pPr>
            <a:r>
              <a:rPr lang="en-IN" altLang="en-US" sz="36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endPar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Maitreyi </a:t>
            </a:r>
            <a:r>
              <a:rPr lang="en-IN" altLang="en-US" sz="3200"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Phadke</a:t>
            </a:r>
            <a:r>
              <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(22106007)</a:t>
            </a:r>
          </a:p>
          <a:p>
            <a:pPr algn="ctr" eaLnBrk="1" fontAlgn="auto" hangingPunct="1">
              <a:spcBef>
                <a:spcPts val="0"/>
              </a:spcBef>
              <a:spcAft>
                <a:spcPts val="0"/>
              </a:spcAft>
              <a:defRPr/>
            </a:pPr>
            <a:r>
              <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Gauri </a:t>
            </a:r>
            <a:r>
              <a:rPr lang="en-IN" altLang="en-US" sz="3200"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Ramekar</a:t>
            </a:r>
            <a:r>
              <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(22106068)</a:t>
            </a:r>
          </a:p>
          <a:p>
            <a:pPr algn="ctr" eaLnBrk="1" fontAlgn="auto" hangingPunct="1">
              <a:spcBef>
                <a:spcPts val="0"/>
              </a:spcBef>
              <a:spcAft>
                <a:spcPts val="0"/>
              </a:spcAft>
              <a:defRPr/>
            </a:pPr>
            <a:r>
              <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Arya Raut(22106075)</a:t>
            </a:r>
          </a:p>
          <a:p>
            <a:pPr algn="ctr" eaLnBrk="1" fontAlgn="auto" hangingPunct="1">
              <a:spcBef>
                <a:spcPts val="0"/>
              </a:spcBef>
              <a:spcAft>
                <a:spcPts val="0"/>
              </a:spcAft>
              <a:defRPr/>
            </a:pPr>
            <a:r>
              <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Chinmay Sawant(22106017)</a:t>
            </a:r>
          </a:p>
          <a:p>
            <a:pPr algn="ctr" eaLnBrk="1" fontAlgn="auto" hangingPunct="1">
              <a:spcBef>
                <a:spcPts val="0"/>
              </a:spcBef>
              <a:spcAft>
                <a:spcPts val="0"/>
              </a:spcAft>
              <a:defRPr/>
            </a:pPr>
            <a:endParaRPr lang="en-IN" altLang="en-US" sz="3200"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ctr" eaLnBrk="1" fontAlgn="auto" hangingPunct="1">
              <a:spcBef>
                <a:spcPts val="0"/>
              </a:spcBef>
              <a:spcAft>
                <a:spcPts val="0"/>
              </a:spcAft>
              <a:defRPr/>
            </a:pPr>
            <a:r>
              <a:rPr lang="en-IN" altLang="en-US" sz="28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Project Guide</a:t>
            </a:r>
          </a:p>
          <a:p>
            <a:pPr algn="ctr" eaLnBrk="1" fontAlgn="auto" hangingPunct="1">
              <a:spcBef>
                <a:spcPts val="0"/>
              </a:spcBef>
              <a:spcAft>
                <a:spcPts val="0"/>
              </a:spcAft>
              <a:defRPr/>
            </a:pPr>
            <a:r>
              <a:rPr lang="en-IN" altLang="en-US" sz="2400"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Prof.Mahesh</a:t>
            </a:r>
            <a:r>
              <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IN" altLang="en-US" sz="2400" b="1" dirty="0" err="1">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Pawaskar</a:t>
            </a:r>
            <a:endParaRPr lang="en-IN" altLang="en-US" sz="2400" b="1" dirty="0">
              <a:solidFill>
                <a:srgbClr val="00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cxnSp>
        <p:nvCxnSpPr>
          <p:cNvPr id="3" name="Straight Connector 2">
            <a:extLst>
              <a:ext uri="{FF2B5EF4-FFF2-40B4-BE49-F238E27FC236}">
                <a16:creationId xmlns:a16="http://schemas.microsoft.com/office/drawing/2014/main" id="{B361A57E-FA1E-F429-9383-89A92C1748C9}"/>
              </a:ext>
            </a:extLst>
          </p:cNvPr>
          <p:cNvCxnSpPr>
            <a:cxnSpLocks/>
          </p:cNvCxnSpPr>
          <p:nvPr/>
        </p:nvCxnSpPr>
        <p:spPr>
          <a:xfrm>
            <a:off x="1494499" y="2251946"/>
            <a:ext cx="10080625"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pic>
        <p:nvPicPr>
          <p:cNvPr id="4" name="Picture 3">
            <a:extLst>
              <a:ext uri="{FF2B5EF4-FFF2-40B4-BE49-F238E27FC236}">
                <a16:creationId xmlns:a16="http://schemas.microsoft.com/office/drawing/2014/main" id="{F403CC06-CBD3-5EEE-7874-542BB9EF33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4500" y="237670"/>
            <a:ext cx="10080624" cy="1935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58273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10581A-4078-946B-3633-0160C0C168B6}"/>
              </a:ext>
            </a:extLst>
          </p:cNvPr>
          <p:cNvSpPr>
            <a:spLocks noChangeArrowheads="1"/>
          </p:cNvSpPr>
          <p:nvPr/>
        </p:nvSpPr>
        <p:spPr bwMode="auto">
          <a:xfrm>
            <a:off x="1950879" y="-129857"/>
            <a:ext cx="9070975" cy="1057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31680" rIns="0" bIns="0" anchor="ctr"/>
          <a:ls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a:lstStyle>
          <a:p>
            <a:pPr algn="ctr" eaLnBrk="1" hangingPunct="1">
              <a:lnSpc>
                <a:spcPct val="93000"/>
              </a:lnSpc>
              <a:buClr>
                <a:srgbClr val="000000"/>
              </a:buClr>
              <a:buSzPct val="100000"/>
              <a:buFont typeface="Times New Roman" panose="02020603050405020304" pitchFamily="18" charset="0"/>
              <a:buNone/>
            </a:pPr>
            <a:r>
              <a:rPr lang="en-IN" altLang="en-US" sz="3600" b="1" u="sng" dirty="0">
                <a:solidFill>
                  <a:srgbClr val="000000"/>
                </a:solidFill>
                <a:latin typeface="Times New Roman" panose="02020603050405020304" pitchFamily="18" charset="0"/>
                <a:cs typeface="DejaVu Sans" charset="0"/>
              </a:rPr>
              <a:t>Outline</a:t>
            </a:r>
          </a:p>
        </p:txBody>
      </p:sp>
      <p:sp>
        <p:nvSpPr>
          <p:cNvPr id="5" name="Rectangle 4">
            <a:extLst>
              <a:ext uri="{FF2B5EF4-FFF2-40B4-BE49-F238E27FC236}">
                <a16:creationId xmlns:a16="http://schemas.microsoft.com/office/drawing/2014/main" id="{2D9BDB13-8D1C-B96E-C87A-E3D32E44F01B}"/>
              </a:ext>
            </a:extLst>
          </p:cNvPr>
          <p:cNvSpPr>
            <a:spLocks noChangeArrowheads="1"/>
          </p:cNvSpPr>
          <p:nvPr/>
        </p:nvSpPr>
        <p:spPr bwMode="auto">
          <a:xfrm>
            <a:off x="1434306" y="636111"/>
            <a:ext cx="9323388" cy="54028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21240" rIns="0" bIns="0"/>
          <a:ls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a:lstStyle>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 Introduction</a:t>
            </a:r>
          </a:p>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 Literature Survey of the Existing Systems</a:t>
            </a:r>
          </a:p>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 Limitations of the Existing Systems</a:t>
            </a:r>
          </a:p>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 Problem Statement </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 Proposed  System Design</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 Framework/Algorithm</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 Technologies Stack for Proposed System</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 Details of Database / Input to the System</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 Implementation(Partial)</a:t>
            </a:r>
          </a:p>
          <a:p>
            <a:pPr algn="just">
              <a:lnSpc>
                <a:spcPct val="150000"/>
              </a:lnSpc>
              <a:buFont typeface="Wingdings" panose="05000000000000000000" pitchFamily="2" charset="2"/>
              <a:buChar char="§"/>
            </a:pPr>
            <a:r>
              <a:rPr lang="en-US" altLang="en-US" sz="2400" dirty="0">
                <a:latin typeface="Times New Roman" panose="02020603050405020304" pitchFamily="18" charset="0"/>
                <a:cs typeface="Times New Roman" panose="02020603050405020304" pitchFamily="18" charset="0"/>
              </a:rPr>
              <a:t> Conclusion </a:t>
            </a:r>
          </a:p>
          <a:p>
            <a:pPr algn="just">
              <a:lnSpc>
                <a:spcPct val="150000"/>
              </a:lnSpc>
              <a:buFont typeface="Wingdings" panose="05000000000000000000" pitchFamily="2" charset="2"/>
              <a:buChar char="§"/>
            </a:pPr>
            <a:r>
              <a:rPr lang="en-IN" altLang="en-US" sz="2400" dirty="0">
                <a:latin typeface="Times New Roman" panose="02020603050405020304" pitchFamily="18" charset="0"/>
                <a:cs typeface="Times New Roman" panose="02020603050405020304" pitchFamily="18" charset="0"/>
              </a:rPr>
              <a:t> References</a:t>
            </a:r>
          </a:p>
        </p:txBody>
      </p:sp>
      <p:pic>
        <p:nvPicPr>
          <p:cNvPr id="8196" name="Picture 4">
            <a:extLst>
              <a:ext uri="{FF2B5EF4-FFF2-40B4-BE49-F238E27FC236}">
                <a16:creationId xmlns:a16="http://schemas.microsoft.com/office/drawing/2014/main" id="{848AE5D0-1C98-F6BD-AE62-89E806FDAD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1363" y="4320857"/>
            <a:ext cx="2730637" cy="24841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824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65F84-1736-BC55-D66B-D2426C6E4080}"/>
              </a:ext>
            </a:extLst>
          </p:cNvPr>
          <p:cNvSpPr>
            <a:spLocks noGrp="1"/>
          </p:cNvSpPr>
          <p:nvPr>
            <p:ph type="title"/>
          </p:nvPr>
        </p:nvSpPr>
        <p:spPr>
          <a:xfrm>
            <a:off x="983226" y="1301956"/>
            <a:ext cx="11208774" cy="444500"/>
          </a:xfrm>
        </p:spPr>
        <p:txBody>
          <a:bodyPr>
            <a:noAutofit/>
          </a:bodyPr>
          <a:lstStyle/>
          <a:p>
            <a:pPr algn="ctr"/>
            <a:r>
              <a:rPr lang="en-IN" sz="5400" b="1" u="sng" dirty="0">
                <a:latin typeface="Times New Roman" panose="02020603050405020304" pitchFamily="18" charset="0"/>
                <a:cs typeface="Times New Roman" panose="02020603050405020304" pitchFamily="18" charset="0"/>
              </a:rPr>
              <a:t>SENTIMENT ANALYSIS </a:t>
            </a:r>
            <a:br>
              <a:rPr lang="en-IN" sz="5400" b="1" u="sng" dirty="0">
                <a:latin typeface="Times New Roman" panose="02020603050405020304" pitchFamily="18" charset="0"/>
                <a:cs typeface="Times New Roman" panose="02020603050405020304" pitchFamily="18" charset="0"/>
              </a:rPr>
            </a:br>
            <a:r>
              <a:rPr lang="en-IN" sz="5400" b="1" u="sng" dirty="0">
                <a:latin typeface="Times New Roman" panose="02020603050405020304" pitchFamily="18" charset="0"/>
                <a:cs typeface="Times New Roman" panose="02020603050405020304" pitchFamily="18" charset="0"/>
              </a:rPr>
              <a:t>USING NLP</a:t>
            </a:r>
          </a:p>
        </p:txBody>
      </p:sp>
      <p:pic>
        <p:nvPicPr>
          <p:cNvPr id="3074" name="Picture 2" descr="How Sentiment Analysis Can Boost Your Customer Experience - Bytesview">
            <a:extLst>
              <a:ext uri="{FF2B5EF4-FFF2-40B4-BE49-F238E27FC236}">
                <a16:creationId xmlns:a16="http://schemas.microsoft.com/office/drawing/2014/main" id="{D3A2A3FF-E03E-3447-218F-14F867EE771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175"/>
          <a:stretch/>
        </p:blipFill>
        <p:spPr bwMode="auto">
          <a:xfrm>
            <a:off x="3082413" y="3001117"/>
            <a:ext cx="7010400" cy="2706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854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47010-6C87-21EB-2ACE-CE1EFE7563C7}"/>
              </a:ext>
            </a:extLst>
          </p:cNvPr>
          <p:cNvSpPr>
            <a:spLocks noGrp="1"/>
          </p:cNvSpPr>
          <p:nvPr>
            <p:ph type="title"/>
          </p:nvPr>
        </p:nvSpPr>
        <p:spPr>
          <a:xfrm>
            <a:off x="1276350" y="317138"/>
            <a:ext cx="9601200" cy="873432"/>
          </a:xfrm>
        </p:spPr>
        <p:txBody>
          <a:bodyPr>
            <a:normAutofit/>
          </a:bodyPr>
          <a:lstStyle/>
          <a:p>
            <a:r>
              <a:rPr lang="en-IN" sz="4000" b="1" u="sng" dirty="0">
                <a:latin typeface="Times New Roman" panose="02020603050405020304" pitchFamily="18" charset="0"/>
                <a:cs typeface="Times New Roman" panose="02020603050405020304" pitchFamily="18" charset="0"/>
              </a:rPr>
              <a:t>INTRODUCTION-</a:t>
            </a:r>
          </a:p>
        </p:txBody>
      </p:sp>
      <p:sp>
        <p:nvSpPr>
          <p:cNvPr id="4" name="TextBox 3">
            <a:extLst>
              <a:ext uri="{FF2B5EF4-FFF2-40B4-BE49-F238E27FC236}">
                <a16:creationId xmlns:a16="http://schemas.microsoft.com/office/drawing/2014/main" id="{C7195EC4-6FA4-0B83-E57F-D64C406A85E9}"/>
              </a:ext>
            </a:extLst>
          </p:cNvPr>
          <p:cNvSpPr txBox="1"/>
          <p:nvPr/>
        </p:nvSpPr>
        <p:spPr>
          <a:xfrm>
            <a:off x="1276350" y="1190570"/>
            <a:ext cx="10089740" cy="4401205"/>
          </a:xfrm>
          <a:prstGeom prst="rect">
            <a:avLst/>
          </a:prstGeom>
          <a:noFill/>
        </p:spPr>
        <p:txBody>
          <a:bodyPr wrap="square" rtlCol="0">
            <a:spAutoFit/>
          </a:bodyPr>
          <a:lstStyle/>
          <a:p>
            <a:pPr algn="just">
              <a:defRPr/>
            </a:pPr>
            <a:r>
              <a:rPr lang="en-US" altLang="en-US" sz="2000" dirty="0">
                <a:latin typeface="Times New Roman" panose="02020603050405020304" pitchFamily="18" charset="0"/>
                <a:cs typeface="Times New Roman" panose="02020603050405020304" pitchFamily="18" charset="0"/>
              </a:rPr>
              <a:t>Sentiment analysis, also known as opinion mining, is a Natural Language Processing (NLP) </a:t>
            </a:r>
          </a:p>
          <a:p>
            <a:pPr algn="just">
              <a:defRPr/>
            </a:pPr>
            <a:r>
              <a:rPr lang="en-US" altLang="en-US" sz="2000" dirty="0">
                <a:latin typeface="Times New Roman" panose="02020603050405020304" pitchFamily="18" charset="0"/>
                <a:cs typeface="Times New Roman" panose="02020603050405020304" pitchFamily="18" charset="0"/>
              </a:rPr>
              <a:t>technique used to determine the emotional tone or sentiment expressed in a piece of text.</a:t>
            </a:r>
          </a:p>
          <a:p>
            <a:pPr algn="just">
              <a:defRPr/>
            </a:pPr>
            <a:endParaRPr lang="en-US" altLang="en-US" sz="2000" dirty="0">
              <a:latin typeface="Times New Roman" panose="02020603050405020304" pitchFamily="18" charset="0"/>
              <a:cs typeface="Times New Roman" panose="02020603050405020304" pitchFamily="18" charset="0"/>
            </a:endParaRPr>
          </a:p>
          <a:p>
            <a:pPr algn="just">
              <a:defRPr/>
            </a:pPr>
            <a:r>
              <a:rPr lang="en-US" altLang="en-US" sz="2000" dirty="0">
                <a:latin typeface="Times New Roman" panose="02020603050405020304" pitchFamily="18" charset="0"/>
                <a:cs typeface="Times New Roman" panose="02020603050405020304" pitchFamily="18" charset="0"/>
              </a:rPr>
              <a:t>It involves categorizing text data into positive or negative sentiments to judge </a:t>
            </a:r>
          </a:p>
          <a:p>
            <a:pPr algn="just">
              <a:defRPr/>
            </a:pPr>
            <a:r>
              <a:rPr lang="en-US" altLang="en-US" sz="2000" dirty="0">
                <a:latin typeface="Times New Roman" panose="02020603050405020304" pitchFamily="18" charset="0"/>
                <a:cs typeface="Times New Roman" panose="02020603050405020304" pitchFamily="18" charset="0"/>
              </a:rPr>
              <a:t>the author's opinion or emotional state.</a:t>
            </a:r>
          </a:p>
          <a:p>
            <a:pPr algn="just">
              <a:defRPr/>
            </a:pP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defRPr/>
            </a:pPr>
            <a:r>
              <a:rPr lang="en-US" altLang="en-US" sz="2000" b="1" dirty="0">
                <a:latin typeface="Times New Roman" panose="02020603050405020304" pitchFamily="18" charset="0"/>
                <a:cs typeface="Times New Roman" panose="02020603050405020304" pitchFamily="18" charset="0"/>
              </a:rPr>
              <a:t>Objectives</a:t>
            </a:r>
            <a:r>
              <a:rPr lang="en-US" altLang="en-US" sz="2000" dirty="0">
                <a:latin typeface="Times New Roman" panose="02020603050405020304" pitchFamily="18" charset="0"/>
                <a:cs typeface="Times New Roman" panose="02020603050405020304" pitchFamily="18" charset="0"/>
              </a:rPr>
              <a:t>: To build a sentiment analysis system for classifying sentiments in </a:t>
            </a:r>
          </a:p>
          <a:p>
            <a:pPr algn="just">
              <a:defRPr/>
            </a:pPr>
            <a:r>
              <a:rPr lang="en-US" altLang="en-US" sz="2000" dirty="0">
                <a:latin typeface="Times New Roman" panose="02020603050405020304" pitchFamily="18" charset="0"/>
                <a:cs typeface="Times New Roman" panose="02020603050405020304" pitchFamily="18" charset="0"/>
              </a:rPr>
              <a:t>                         feedback and social media trends. </a:t>
            </a:r>
          </a:p>
          <a:p>
            <a:pPr algn="just">
              <a:defRPr/>
            </a:pP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defRPr/>
            </a:pPr>
            <a:r>
              <a:rPr lang="en-US" altLang="en-US" sz="2000" b="1" dirty="0">
                <a:latin typeface="Times New Roman" panose="02020603050405020304" pitchFamily="18" charset="0"/>
                <a:cs typeface="Times New Roman" panose="02020603050405020304" pitchFamily="18" charset="0"/>
              </a:rPr>
              <a:t>Real-world Observation</a:t>
            </a:r>
            <a:r>
              <a:rPr lang="en-US" altLang="en-US" sz="2000" dirty="0">
                <a:latin typeface="Times New Roman" panose="02020603050405020304" pitchFamily="18" charset="0"/>
                <a:cs typeface="Times New Roman" panose="02020603050405020304" pitchFamily="18" charset="0"/>
              </a:rPr>
              <a:t>: Sentiment analysis is essential for companies to </a:t>
            </a:r>
          </a:p>
          <a:p>
            <a:pPr algn="just">
              <a:defRPr/>
            </a:pPr>
            <a:r>
              <a:rPr lang="en-US" altLang="en-US" sz="2000" dirty="0">
                <a:latin typeface="Times New Roman" panose="02020603050405020304" pitchFamily="18" charset="0"/>
                <a:cs typeface="Times New Roman" panose="02020603050405020304" pitchFamily="18" charset="0"/>
              </a:rPr>
              <a:t>                         understand customer feedback and perception.</a:t>
            </a:r>
          </a:p>
          <a:p>
            <a:pPr algn="just">
              <a:defRPr/>
            </a:pPr>
            <a:endParaRPr lang="en-US" alt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defRPr/>
            </a:pPr>
            <a:r>
              <a:rPr lang="en-US" altLang="en-US" sz="2000" b="1" dirty="0">
                <a:latin typeface="Times New Roman" panose="02020603050405020304" pitchFamily="18" charset="0"/>
                <a:cs typeface="Times New Roman" panose="02020603050405020304" pitchFamily="18" charset="0"/>
              </a:rPr>
              <a:t>Motivation</a:t>
            </a:r>
            <a:r>
              <a:rPr lang="en-US" altLang="en-US" sz="2000" dirty="0">
                <a:latin typeface="Times New Roman" panose="02020603050405020304" pitchFamily="18" charset="0"/>
                <a:cs typeface="Times New Roman" panose="02020603050405020304" pitchFamily="18" charset="0"/>
              </a:rPr>
              <a:t>: The growing importance of customer feedback in product </a:t>
            </a:r>
          </a:p>
          <a:p>
            <a:pPr algn="just">
              <a:defRPr/>
            </a:pPr>
            <a:r>
              <a:rPr lang="en-US" altLang="en-US" sz="2000" dirty="0">
                <a:latin typeface="Times New Roman" panose="02020603050405020304" pitchFamily="18" charset="0"/>
                <a:cs typeface="Times New Roman" panose="02020603050405020304" pitchFamily="18" charset="0"/>
              </a:rPr>
              <a:t>                          strategy  and development.</a:t>
            </a:r>
            <a:endParaRPr lang="en-IN" sz="2000" dirty="0">
              <a:latin typeface="Arial Rounded MT Bold" panose="020F0704030504030204" pitchFamily="34" charset="0"/>
            </a:endParaRPr>
          </a:p>
        </p:txBody>
      </p:sp>
      <p:pic>
        <p:nvPicPr>
          <p:cNvPr id="4098" name="Picture 2" descr="Sentiment analysis Detailed Straight Lineal icon">
            <a:extLst>
              <a:ext uri="{FF2B5EF4-FFF2-40B4-BE49-F238E27FC236}">
                <a16:creationId xmlns:a16="http://schemas.microsoft.com/office/drawing/2014/main" id="{2D130893-A678-36AA-C1ED-7AD7D95681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3253" y="4652269"/>
            <a:ext cx="1888593" cy="18885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384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E666-1DCF-C98D-2C09-7B73DD7DD468}"/>
              </a:ext>
            </a:extLst>
          </p:cNvPr>
          <p:cNvSpPr>
            <a:spLocks noGrp="1"/>
          </p:cNvSpPr>
          <p:nvPr>
            <p:ph type="title"/>
          </p:nvPr>
        </p:nvSpPr>
        <p:spPr>
          <a:xfrm>
            <a:off x="1057275" y="247650"/>
            <a:ext cx="9601200" cy="1485900"/>
          </a:xfrm>
        </p:spPr>
        <p:txBody>
          <a:bodyPr>
            <a:normAutofit/>
          </a:bodyPr>
          <a:lstStyle/>
          <a:p>
            <a:r>
              <a:rPr lang="en-IN" altLang="en-US" sz="4000" b="1" u="sng" dirty="0">
                <a:latin typeface="Times New Roman" panose="02020603050405020304" pitchFamily="18" charset="0"/>
                <a:cs typeface="Times New Roman" panose="02020603050405020304" pitchFamily="18" charset="0"/>
              </a:rPr>
              <a:t>Literature Survey of the Existing Systems-</a:t>
            </a:r>
            <a:br>
              <a:rPr lang="en-IN" altLang="en-US" sz="4000" b="1" u="sng" dirty="0">
                <a:latin typeface="Times New Roman" panose="02020603050405020304" pitchFamily="18" charset="0"/>
                <a:cs typeface="Times New Roman" panose="02020603050405020304" pitchFamily="18" charset="0"/>
              </a:rPr>
            </a:br>
            <a:endParaRPr lang="en-IN" sz="4000" b="1" u="sng"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18D4ABE1-216A-AF21-8BB0-947354D86E71}"/>
              </a:ext>
            </a:extLst>
          </p:cNvPr>
          <p:cNvSpPr txBox="1"/>
          <p:nvPr/>
        </p:nvSpPr>
        <p:spPr>
          <a:xfrm>
            <a:off x="1172650" y="653192"/>
            <a:ext cx="10540930" cy="5940088"/>
          </a:xfrm>
          <a:prstGeom prst="rect">
            <a:avLst/>
          </a:prstGeom>
          <a:noFill/>
        </p:spPr>
        <p:txBody>
          <a:bodyPr wrap="square" rtlCol="0">
            <a:spAutoFit/>
          </a:bodyPr>
          <a:lstStyle/>
          <a:p>
            <a:endParaRPr lang="en-US" altLang="en-US" sz="2000" b="1" dirty="0"/>
          </a:p>
          <a:p>
            <a:pPr>
              <a:buFontTx/>
              <a:buChar char="•"/>
            </a:pPr>
            <a:r>
              <a:rPr lang="en-US" altLang="en-US" sz="2000" b="1" dirty="0">
                <a:latin typeface="Times New Roman" panose="02020603050405020304" pitchFamily="18" charset="0"/>
                <a:cs typeface="Times New Roman" panose="02020603050405020304" pitchFamily="18" charset="0"/>
              </a:rPr>
              <a:t>1</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"Sentiment Analysis Is a Big Suitcase" (IEEE XPLORE 2020)</a:t>
            </a:r>
          </a:p>
          <a:p>
            <a:r>
              <a:rPr lang="en-US" altLang="en-US" sz="2000" dirty="0">
                <a:latin typeface="Times New Roman" panose="02020603050405020304" pitchFamily="18" charset="0"/>
                <a:cs typeface="Times New Roman" panose="02020603050405020304" pitchFamily="18" charset="0"/>
              </a:rPr>
              <a:t>                   Discusses the complexity of sentiment analysis in NLP, requiring</a:t>
            </a:r>
          </a:p>
          <a:p>
            <a:r>
              <a:rPr lang="en-US" altLang="en-US" sz="2000" dirty="0">
                <a:latin typeface="Times New Roman" panose="02020603050405020304" pitchFamily="18" charset="0"/>
                <a:cs typeface="Times New Roman" panose="02020603050405020304" pitchFamily="18" charset="0"/>
              </a:rPr>
              <a:t>                    multiple layers of understanding​.</a:t>
            </a:r>
          </a:p>
          <a:p>
            <a:pPr>
              <a:buFontTx/>
              <a:buChar char="•"/>
            </a:pPr>
            <a:r>
              <a:rPr lang="en-US" altLang="en-US" sz="2000" b="1" dirty="0">
                <a:latin typeface="Times New Roman" panose="02020603050405020304" pitchFamily="18" charset="0"/>
                <a:cs typeface="Times New Roman" panose="02020603050405020304" pitchFamily="18" charset="0"/>
              </a:rPr>
              <a:t>2</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"State of the Art: A Review of Sentiment Analysis Based on Sequential </a:t>
            </a:r>
          </a:p>
          <a:p>
            <a:r>
              <a:rPr lang="en-US" altLang="en-US" sz="2000" b="1" dirty="0">
                <a:latin typeface="Times New Roman" panose="02020603050405020304" pitchFamily="18" charset="0"/>
                <a:cs typeface="Times New Roman" panose="02020603050405020304" pitchFamily="18" charset="0"/>
              </a:rPr>
              <a:t>                  Transfer Learning" (IEEE XPLORE 2020)</a:t>
            </a:r>
          </a:p>
          <a:p>
            <a:r>
              <a:rPr lang="en-US" altLang="en-US" sz="2000" dirty="0">
                <a:latin typeface="Times New Roman" panose="02020603050405020304" pitchFamily="18" charset="0"/>
                <a:cs typeface="Times New Roman" panose="02020603050405020304" pitchFamily="18" charset="0"/>
              </a:rPr>
              <a:t>                   Explores the background and applications of sequential transfer learning</a:t>
            </a:r>
          </a:p>
          <a:p>
            <a:r>
              <a:rPr lang="en-US" altLang="en-US" sz="2000" dirty="0">
                <a:latin typeface="Times New Roman" panose="02020603050405020304" pitchFamily="18" charset="0"/>
                <a:cs typeface="Times New Roman" panose="02020603050405020304" pitchFamily="18" charset="0"/>
              </a:rPr>
              <a:t>                   in sentiment analysis​.</a:t>
            </a:r>
          </a:p>
          <a:p>
            <a:pPr>
              <a:buFontTx/>
              <a:buChar char="•"/>
            </a:pPr>
            <a:r>
              <a:rPr lang="en-US" altLang="en-US" sz="2000" b="1" dirty="0">
                <a:latin typeface="Times New Roman" panose="02020603050405020304" pitchFamily="18" charset="0"/>
                <a:cs typeface="Times New Roman" panose="02020603050405020304" pitchFamily="18" charset="0"/>
              </a:rPr>
              <a:t>3: "A Survey of Knowledge Enhanced Pre-Trained Language Models"(IEEE XPLORE 2020)</a:t>
            </a:r>
          </a:p>
          <a:p>
            <a:r>
              <a:rPr lang="en-US" altLang="en-US" sz="2000" dirty="0">
                <a:latin typeface="Times New Roman" panose="02020603050405020304" pitchFamily="18" charset="0"/>
                <a:cs typeface="Times New Roman" panose="02020603050405020304" pitchFamily="18" charset="0"/>
              </a:rPr>
              <a:t>                   Reviews Knowledge Enhanced Pre-trained Language Models (KE-PLMs)</a:t>
            </a:r>
          </a:p>
          <a:p>
            <a:r>
              <a:rPr lang="en-US" altLang="en-US" sz="2000" dirty="0">
                <a:latin typeface="Times New Roman" panose="02020603050405020304" pitchFamily="18" charset="0"/>
                <a:cs typeface="Times New Roman" panose="02020603050405020304" pitchFamily="18" charset="0"/>
              </a:rPr>
              <a:t>                    and their use in NLP​.</a:t>
            </a:r>
          </a:p>
          <a:p>
            <a:pPr>
              <a:buFontTx/>
              <a:buChar char="•"/>
            </a:pPr>
            <a:r>
              <a:rPr lang="en-US" altLang="en-US" sz="2000" b="1" dirty="0">
                <a:latin typeface="Times New Roman" panose="02020603050405020304" pitchFamily="18" charset="0"/>
                <a:cs typeface="Times New Roman" panose="02020603050405020304" pitchFamily="18" charset="0"/>
              </a:rPr>
              <a:t>4</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"Sentiment Analysis of Product Reviews: A Review" (IEEE XPLORE 2017)</a:t>
            </a:r>
          </a:p>
          <a:p>
            <a:r>
              <a:rPr lang="en-US" altLang="en-US" sz="2000" dirty="0">
                <a:latin typeface="Times New Roman" panose="02020603050405020304" pitchFamily="18" charset="0"/>
                <a:cs typeface="Times New Roman" panose="02020603050405020304" pitchFamily="18" charset="0"/>
              </a:rPr>
              <a:t>                  Categorizes sentiment analysis methods and compares performance, </a:t>
            </a:r>
          </a:p>
          <a:p>
            <a:r>
              <a:rPr lang="en-US" altLang="en-US" sz="2000" dirty="0">
                <a:latin typeface="Times New Roman" panose="02020603050405020304" pitchFamily="18" charset="0"/>
                <a:cs typeface="Times New Roman" panose="02020603050405020304" pitchFamily="18" charset="0"/>
              </a:rPr>
              <a:t>                  noting that SVM outperforms Naive Bayes and Maximum Entropy in </a:t>
            </a:r>
          </a:p>
          <a:p>
            <a:r>
              <a:rPr lang="en-US" altLang="en-US" sz="2000" dirty="0">
                <a:latin typeface="Times New Roman" panose="02020603050405020304" pitchFamily="18" charset="0"/>
                <a:cs typeface="Times New Roman" panose="02020603050405020304" pitchFamily="18" charset="0"/>
              </a:rPr>
              <a:t>                  online review analysis​.</a:t>
            </a:r>
          </a:p>
          <a:p>
            <a:pPr>
              <a:buFontTx/>
              <a:buChar char="•"/>
            </a:pPr>
            <a:r>
              <a:rPr lang="en-US" altLang="en-US" sz="2000" b="1" dirty="0">
                <a:latin typeface="Times New Roman" panose="02020603050405020304" pitchFamily="18" charset="0"/>
                <a:cs typeface="Times New Roman" panose="02020603050405020304" pitchFamily="18" charset="0"/>
              </a:rPr>
              <a:t>5</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"A Review of Natural Language Processing Techniques for Sentiment </a:t>
            </a:r>
          </a:p>
          <a:p>
            <a:r>
              <a:rPr lang="en-US" altLang="en-US" sz="2000" b="1" dirty="0">
                <a:latin typeface="Times New Roman" panose="02020603050405020304" pitchFamily="18" charset="0"/>
                <a:cs typeface="Times New Roman" panose="02020603050405020304" pitchFamily="18" charset="0"/>
              </a:rPr>
              <a:t>                   Analysis Using Pre-Trained Models" (IEEE XPLORE 2017) </a:t>
            </a:r>
          </a:p>
          <a:p>
            <a:r>
              <a:rPr lang="en-US" altLang="en-US" sz="2000" dirty="0">
                <a:latin typeface="Times New Roman" panose="02020603050405020304" pitchFamily="18" charset="0"/>
                <a:cs typeface="Times New Roman" panose="02020603050405020304" pitchFamily="18" charset="0"/>
              </a:rPr>
              <a:t>                   Gives us the overall review of NLP</a:t>
            </a:r>
          </a:p>
          <a:p>
            <a:endParaRPr lang="en-US" sz="2000" dirty="0">
              <a:latin typeface="Arial Rounded MT Bold" panose="020F0704030504030204" pitchFamily="34" charset="0"/>
            </a:endParaRPr>
          </a:p>
        </p:txBody>
      </p:sp>
      <p:pic>
        <p:nvPicPr>
          <p:cNvPr id="3" name="Picture 2" descr="A white and black logo&#10;&#10;Description automatically generated">
            <a:extLst>
              <a:ext uri="{FF2B5EF4-FFF2-40B4-BE49-F238E27FC236}">
                <a16:creationId xmlns:a16="http://schemas.microsoft.com/office/drawing/2014/main" id="{D9D30F9D-6546-9AAB-11B7-DC2D6C560241}"/>
              </a:ext>
            </a:extLst>
          </p:cNvPr>
          <p:cNvPicPr>
            <a:picLocks noChangeAspect="1"/>
          </p:cNvPicPr>
          <p:nvPr/>
        </p:nvPicPr>
        <p:blipFill>
          <a:blip r:embed="rId2"/>
          <a:stretch>
            <a:fillRect/>
          </a:stretch>
        </p:blipFill>
        <p:spPr>
          <a:xfrm>
            <a:off x="9346200" y="5518538"/>
            <a:ext cx="2624549" cy="1091812"/>
          </a:xfrm>
          <a:prstGeom prst="rect">
            <a:avLst/>
          </a:prstGeom>
        </p:spPr>
      </p:pic>
    </p:spTree>
    <p:extLst>
      <p:ext uri="{BB962C8B-B14F-4D97-AF65-F5344CB8AC3E}">
        <p14:creationId xmlns:p14="http://schemas.microsoft.com/office/powerpoint/2010/main" val="2038182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E666-1DCF-C98D-2C09-7B73DD7DD468}"/>
              </a:ext>
            </a:extLst>
          </p:cNvPr>
          <p:cNvSpPr>
            <a:spLocks noGrp="1"/>
          </p:cNvSpPr>
          <p:nvPr>
            <p:ph type="title"/>
          </p:nvPr>
        </p:nvSpPr>
        <p:spPr>
          <a:xfrm>
            <a:off x="1057275" y="247650"/>
            <a:ext cx="9601200" cy="1485900"/>
          </a:xfrm>
        </p:spPr>
        <p:txBody>
          <a:bodyPr>
            <a:normAutofit/>
          </a:bodyPr>
          <a:lstStyle/>
          <a:p>
            <a:r>
              <a:rPr lang="en-IN" altLang="en-US" sz="4000" b="1"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 </a:t>
            </a:r>
            <a:r>
              <a:rPr lang="en-IN" altLang="en-US" sz="4000" b="1" u="sng" dirty="0">
                <a:effectLst>
                  <a:outerShdw blurRad="38100" dist="38100" dir="2700000" algn="tl">
                    <a:srgbClr val="000000">
                      <a:alpha val="43137"/>
                    </a:srgbClr>
                  </a:outerShdw>
                </a:effectLst>
                <a:latin typeface="Times New Roman" panose="02020603050405020304" pitchFamily="18" charset="0"/>
                <a:cs typeface="+mj-cs"/>
              </a:rPr>
              <a:t>Limitations of Existing Systems -</a:t>
            </a:r>
            <a:br>
              <a:rPr lang="en-IN" altLang="en-US" sz="4000" b="1" dirty="0">
                <a:effectLst>
                  <a:outerShdw blurRad="38100" dist="38100" dir="2700000" algn="tl">
                    <a:srgbClr val="000000">
                      <a:alpha val="43137"/>
                    </a:srgbClr>
                  </a:outerShdw>
                </a:effectLst>
                <a:latin typeface="Times New Roman" panose="02020603050405020304" pitchFamily="18" charset="0"/>
                <a:cs typeface="+mj-cs"/>
              </a:rPr>
            </a:br>
            <a:endParaRPr lang="en-IN" sz="4000" u="sng" dirty="0">
              <a:latin typeface="Arial Rounded MT Bold" panose="020F0704030504030204" pitchFamily="34" charset="0"/>
            </a:endParaRPr>
          </a:p>
        </p:txBody>
      </p:sp>
      <p:sp>
        <p:nvSpPr>
          <p:cNvPr id="4" name="TextBox 3">
            <a:extLst>
              <a:ext uri="{FF2B5EF4-FFF2-40B4-BE49-F238E27FC236}">
                <a16:creationId xmlns:a16="http://schemas.microsoft.com/office/drawing/2014/main" id="{18D4ABE1-216A-AF21-8BB0-947354D86E71}"/>
              </a:ext>
            </a:extLst>
          </p:cNvPr>
          <p:cNvSpPr txBox="1"/>
          <p:nvPr/>
        </p:nvSpPr>
        <p:spPr>
          <a:xfrm>
            <a:off x="1303082" y="990600"/>
            <a:ext cx="7083834" cy="3847207"/>
          </a:xfrm>
          <a:prstGeom prst="rect">
            <a:avLst/>
          </a:prstGeom>
          <a:noFill/>
        </p:spPr>
        <p:txBody>
          <a:bodyPr wrap="square" rtlCol="0">
            <a:spAutoFit/>
          </a:bodyPr>
          <a:lstStyle/>
          <a:p>
            <a:endParaRPr lang="en-US" altLang="en-US" sz="2000" b="1" dirty="0"/>
          </a:p>
          <a:p>
            <a:pPr>
              <a:buFontTx/>
              <a:buChar char="•"/>
            </a:pPr>
            <a:r>
              <a:rPr lang="en-US" altLang="en-US" sz="2000" dirty="0">
                <a:latin typeface="Times New Roman" panose="02020603050405020304" pitchFamily="18" charset="0"/>
                <a:cs typeface="Times New Roman" panose="02020603050405020304" pitchFamily="18" charset="0"/>
              </a:rPr>
              <a:t> Limited Dataset Diversity</a:t>
            </a:r>
          </a:p>
          <a:p>
            <a:pPr>
              <a:buFontTx/>
              <a:buChar char="•"/>
            </a:pPr>
            <a:r>
              <a:rPr lang="en-US" altLang="en-US" sz="2000" dirty="0">
                <a:latin typeface="Times New Roman" panose="02020603050405020304" pitchFamily="18" charset="0"/>
                <a:cs typeface="Times New Roman" panose="02020603050405020304" pitchFamily="18" charset="0"/>
              </a:rPr>
              <a:t> Contextual Ambiguity</a:t>
            </a:r>
          </a:p>
          <a:p>
            <a:pPr>
              <a:buFontTx/>
              <a:buChar char="•"/>
            </a:pPr>
            <a:r>
              <a:rPr lang="en-US" altLang="en-US" sz="2000" dirty="0">
                <a:latin typeface="Times New Roman" panose="02020603050405020304" pitchFamily="18" charset="0"/>
                <a:cs typeface="Times New Roman" panose="02020603050405020304" pitchFamily="18" charset="0"/>
              </a:rPr>
              <a:t> Language Variability</a:t>
            </a:r>
          </a:p>
          <a:p>
            <a:pPr>
              <a:buFontTx/>
              <a:buChar char="•"/>
            </a:pPr>
            <a:r>
              <a:rPr lang="en-US" altLang="en-US" sz="2000" dirty="0">
                <a:latin typeface="Times New Roman" panose="02020603050405020304" pitchFamily="18" charset="0"/>
                <a:cs typeface="Times New Roman" panose="02020603050405020304" pitchFamily="18" charset="0"/>
              </a:rPr>
              <a:t> Scalability Issues</a:t>
            </a:r>
          </a:p>
          <a:p>
            <a:pPr>
              <a:buFontTx/>
              <a:buChar char="•"/>
            </a:pPr>
            <a:r>
              <a:rPr lang="en-US" altLang="en-US" sz="2000" dirty="0">
                <a:latin typeface="Times New Roman" panose="02020603050405020304" pitchFamily="18" charset="0"/>
                <a:cs typeface="Times New Roman" panose="02020603050405020304" pitchFamily="18" charset="0"/>
              </a:rPr>
              <a:t> Model Overfitting</a:t>
            </a:r>
          </a:p>
          <a:p>
            <a:pPr>
              <a:buFontTx/>
              <a:buChar char="•"/>
            </a:pPr>
            <a:r>
              <a:rPr lang="en-US" altLang="en-US" sz="2000" dirty="0">
                <a:latin typeface="Times New Roman" panose="02020603050405020304" pitchFamily="18" charset="0"/>
                <a:cs typeface="Times New Roman" panose="02020603050405020304" pitchFamily="18" charset="0"/>
              </a:rPr>
              <a:t> Lack of Domain Adaptation</a:t>
            </a:r>
          </a:p>
          <a:p>
            <a:pPr>
              <a:buFontTx/>
              <a:buChar char="•"/>
            </a:pPr>
            <a:r>
              <a:rPr lang="en-US" altLang="en-US" sz="2000" dirty="0">
                <a:latin typeface="Times New Roman" panose="02020603050405020304" pitchFamily="18" charset="0"/>
                <a:cs typeface="Times New Roman" panose="02020603050405020304" pitchFamily="18" charset="0"/>
              </a:rPr>
              <a:t> Inconsistent Sentiment Classification</a:t>
            </a:r>
          </a:p>
          <a:p>
            <a:pPr>
              <a:buFontTx/>
              <a:buChar char="•"/>
            </a:pPr>
            <a:r>
              <a:rPr lang="en-US" altLang="en-US" sz="2000" dirty="0">
                <a:latin typeface="Times New Roman" panose="02020603050405020304" pitchFamily="18" charset="0"/>
                <a:cs typeface="Times New Roman" panose="02020603050405020304" pitchFamily="18" charset="0"/>
              </a:rPr>
              <a:t> Integration Challenges</a:t>
            </a:r>
          </a:p>
          <a:p>
            <a:pPr>
              <a:buFontTx/>
              <a:buChar char="•"/>
            </a:pPr>
            <a:r>
              <a:rPr lang="en-US" altLang="en-US" sz="2000" dirty="0">
                <a:latin typeface="Times New Roman" panose="02020603050405020304" pitchFamily="18" charset="0"/>
                <a:cs typeface="Times New Roman" panose="02020603050405020304" pitchFamily="18" charset="0"/>
              </a:rPr>
              <a:t> Computational Resource Demands</a:t>
            </a:r>
          </a:p>
          <a:p>
            <a:pPr>
              <a:buFontTx/>
              <a:buChar char="•"/>
            </a:pPr>
            <a:r>
              <a:rPr lang="en-US" altLang="en-US" sz="2000" dirty="0">
                <a:latin typeface="Times New Roman" panose="02020603050405020304" pitchFamily="18" charset="0"/>
                <a:cs typeface="Times New Roman" panose="02020603050405020304" pitchFamily="18" charset="0"/>
              </a:rPr>
              <a:t> Privacy Concerns</a:t>
            </a:r>
          </a:p>
          <a:p>
            <a:pPr algn="just"/>
            <a:endParaRPr lang="en-US" sz="2400" dirty="0">
              <a:latin typeface="Arial Rounded MT Bold" panose="020F0704030504030204" pitchFamily="34" charset="0"/>
            </a:endParaRPr>
          </a:p>
        </p:txBody>
      </p:sp>
      <p:pic>
        <p:nvPicPr>
          <p:cNvPr id="1026" name="Picture 2">
            <a:extLst>
              <a:ext uri="{FF2B5EF4-FFF2-40B4-BE49-F238E27FC236}">
                <a16:creationId xmlns:a16="http://schemas.microsoft.com/office/drawing/2014/main" id="{E7A8A888-083B-E673-F1E6-7CEBB9B709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63484" y="4886632"/>
            <a:ext cx="1989457" cy="1723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0486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8E666-1DCF-C98D-2C09-7B73DD7DD468}"/>
              </a:ext>
            </a:extLst>
          </p:cNvPr>
          <p:cNvSpPr>
            <a:spLocks noGrp="1"/>
          </p:cNvSpPr>
          <p:nvPr>
            <p:ph type="title"/>
          </p:nvPr>
        </p:nvSpPr>
        <p:spPr>
          <a:xfrm>
            <a:off x="1138735" y="689593"/>
            <a:ext cx="9601200" cy="1485900"/>
          </a:xfrm>
        </p:spPr>
        <p:txBody>
          <a:bodyPr>
            <a:normAutofit/>
          </a:bodyPr>
          <a:lstStyle/>
          <a:p>
            <a:pPr algn="just"/>
            <a:r>
              <a:rPr lang="en-IN" sz="4000" b="1" u="sng" dirty="0">
                <a:latin typeface="Times New Roman" panose="02020603050405020304" pitchFamily="18" charset="0"/>
                <a:cs typeface="Times New Roman" panose="02020603050405020304" pitchFamily="18" charset="0"/>
              </a:rPr>
              <a:t>PROBLEM STATEMENT-</a:t>
            </a:r>
          </a:p>
        </p:txBody>
      </p:sp>
      <p:sp>
        <p:nvSpPr>
          <p:cNvPr id="4" name="TextBox 3">
            <a:extLst>
              <a:ext uri="{FF2B5EF4-FFF2-40B4-BE49-F238E27FC236}">
                <a16:creationId xmlns:a16="http://schemas.microsoft.com/office/drawing/2014/main" id="{18D4ABE1-216A-AF21-8BB0-947354D86E71}"/>
              </a:ext>
            </a:extLst>
          </p:cNvPr>
          <p:cNvSpPr txBox="1"/>
          <p:nvPr/>
        </p:nvSpPr>
        <p:spPr>
          <a:xfrm>
            <a:off x="1138735" y="1501369"/>
            <a:ext cx="10622661" cy="2308324"/>
          </a:xfrm>
          <a:prstGeom prst="rect">
            <a:avLst/>
          </a:prstGeom>
          <a:noFill/>
        </p:spPr>
        <p:txBody>
          <a:bodyPr wrap="square" rtlCol="0">
            <a:spAutoFit/>
          </a:bodyPr>
          <a:lstStyle/>
          <a:p>
            <a:pPr algn="just"/>
            <a:r>
              <a:rPr lang="en-US" altLang="en-US" sz="2400" dirty="0">
                <a:latin typeface="Times New Roman" panose="02020603050405020304" pitchFamily="18" charset="0"/>
                <a:cs typeface="Times New Roman" panose="02020603050405020304" pitchFamily="18" charset="0"/>
              </a:rPr>
              <a:t>Developing a sentiment analysis system to accurately classify text from diverse sources </a:t>
            </a:r>
            <a:r>
              <a:rPr lang="en-US" altLang="en-US" sz="2400" dirty="0">
                <a:latin typeface="Times New Roman" panose="02020603050405020304" pitchFamily="18" charset="0"/>
                <a:cs typeface="Times New Roman" panose="02020603050405020304" pitchFamily="18" charset="0"/>
                <a:sym typeface="Wingdings" panose="05000000000000000000" pitchFamily="2" charset="2"/>
              </a:rPr>
              <a:t>such as </a:t>
            </a:r>
            <a:r>
              <a:rPr lang="en-US" altLang="en-US" sz="2400" dirty="0">
                <a:latin typeface="Times New Roman" panose="02020603050405020304" pitchFamily="18" charset="0"/>
                <a:cs typeface="Times New Roman" panose="02020603050405020304" pitchFamily="18" charset="0"/>
              </a:rPr>
              <a:t>customer reviews(amazon), social media, and news articles into positive or negative sentiments. The system must handle contextual nuances, adapt to language variability, and scale efficiently to support informed decision-making and strategic planning.</a:t>
            </a:r>
            <a:endParaRPr lang="en-GB" altLang="en-US" sz="2400" dirty="0">
              <a:solidFill>
                <a:srgbClr val="000000"/>
              </a:solidFill>
              <a:latin typeface="Times New Roman" panose="02020603050405020304" pitchFamily="18" charset="0"/>
              <a:cs typeface="Times New Roman" panose="02020603050405020304" pitchFamily="18" charset="0"/>
            </a:endParaRPr>
          </a:p>
          <a:p>
            <a:pPr algn="just"/>
            <a:endParaRPr lang="en-US" sz="2400" b="1" dirty="0">
              <a:latin typeface="Arial Rounded MT Bold" panose="020F0704030504030204" pitchFamily="34" charset="0"/>
            </a:endParaRPr>
          </a:p>
        </p:txBody>
      </p:sp>
      <p:pic>
        <p:nvPicPr>
          <p:cNvPr id="7" name="Picture 6" descr="A silhouette of a person with a question mark&#10;&#10;Description automatically generated">
            <a:extLst>
              <a:ext uri="{FF2B5EF4-FFF2-40B4-BE49-F238E27FC236}">
                <a16:creationId xmlns:a16="http://schemas.microsoft.com/office/drawing/2014/main" id="{8E7CBE59-DAE2-E321-BF83-60CD8D1999FD}"/>
              </a:ext>
            </a:extLst>
          </p:cNvPr>
          <p:cNvPicPr>
            <a:picLocks noChangeAspect="1"/>
          </p:cNvPicPr>
          <p:nvPr/>
        </p:nvPicPr>
        <p:blipFill>
          <a:blip r:embed="rId2"/>
          <a:stretch>
            <a:fillRect/>
          </a:stretch>
        </p:blipFill>
        <p:spPr>
          <a:xfrm>
            <a:off x="9799936" y="4473677"/>
            <a:ext cx="1879999" cy="2008546"/>
          </a:xfrm>
          <a:prstGeom prst="rect">
            <a:avLst/>
          </a:prstGeom>
        </p:spPr>
      </p:pic>
    </p:spTree>
    <p:extLst>
      <p:ext uri="{BB962C8B-B14F-4D97-AF65-F5344CB8AC3E}">
        <p14:creationId xmlns:p14="http://schemas.microsoft.com/office/powerpoint/2010/main" val="17252434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DAC81E1-0918-3674-1C6B-727E80E004E4}"/>
              </a:ext>
            </a:extLst>
          </p:cNvPr>
          <p:cNvSpPr txBox="1"/>
          <p:nvPr/>
        </p:nvSpPr>
        <p:spPr>
          <a:xfrm>
            <a:off x="1117600" y="176014"/>
            <a:ext cx="6096000" cy="707886"/>
          </a:xfrm>
          <a:prstGeom prst="rect">
            <a:avLst/>
          </a:prstGeom>
          <a:noFill/>
        </p:spPr>
        <p:txBody>
          <a:bodyPr wrap="square">
            <a:spAutoFit/>
          </a:bodyPr>
          <a:lstStyle/>
          <a:p>
            <a:pPr eaLnBrk="1" fontAlgn="auto" hangingPunct="1">
              <a:spcBef>
                <a:spcPts val="0"/>
              </a:spcBef>
              <a:spcAft>
                <a:spcPts val="0"/>
              </a:spcAft>
              <a:defRPr/>
            </a:pPr>
            <a: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Proposed System Design -</a:t>
            </a:r>
          </a:p>
        </p:txBody>
      </p:sp>
      <p:pic>
        <p:nvPicPr>
          <p:cNvPr id="10" name="Picture 9">
            <a:extLst>
              <a:ext uri="{FF2B5EF4-FFF2-40B4-BE49-F238E27FC236}">
                <a16:creationId xmlns:a16="http://schemas.microsoft.com/office/drawing/2014/main" id="{9315E7D1-B590-EBE1-CEC9-71B58769F38A}"/>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5616" b="91848" l="3704" r="93930">
                        <a14:foregroundMark x1="18930" y1="26630" x2="18930" y2="26630"/>
                        <a14:foregroundMark x1="3704" y1="6159" x2="3704" y2="6159"/>
                        <a14:foregroundMark x1="5350" y1="8333" x2="5350" y2="8333"/>
                        <a14:foregroundMark x1="6996" y1="10870" x2="6996" y2="10870"/>
                        <a14:foregroundMark x1="9053" y1="13587" x2="9053" y2="13587"/>
                        <a14:foregroundMark x1="9053" y1="13587" x2="9053" y2="13587"/>
                        <a14:foregroundMark x1="9053" y1="13587" x2="9053" y2="13587"/>
                        <a14:foregroundMark x1="10288" y1="13587" x2="10288" y2="13587"/>
                        <a14:foregroundMark x1="10288" y1="13587" x2="10288" y2="13587"/>
                        <a14:foregroundMark x1="13786" y1="15217" x2="8745" y2="17754"/>
                        <a14:foregroundMark x1="15535" y1="19928" x2="4321" y2="16667"/>
                        <a14:foregroundMark x1="4321" y1="16667" x2="6173" y2="7065"/>
                        <a14:foregroundMark x1="6173" y1="7065" x2="12140" y2="7065"/>
                        <a14:foregroundMark x1="12140" y1="7065" x2="17901" y2="14493"/>
                        <a14:foregroundMark x1="17901" y1="14493" x2="15844" y2="25906"/>
                        <a14:foregroundMark x1="15844" y1="25906" x2="9568" y2="25543"/>
                        <a14:foregroundMark x1="9568" y1="25543" x2="6790" y2="14855"/>
                        <a14:foregroundMark x1="6790" y1="14855" x2="7202" y2="14312"/>
                        <a14:foregroundMark x1="39506" y1="19928" x2="32202" y2="16486"/>
                        <a14:foregroundMark x1="32202" y1="16486" x2="39403" y2="13225"/>
                        <a14:foregroundMark x1="39403" y1="13225" x2="37037" y2="21558"/>
                        <a14:foregroundMark x1="37037" y1="21558" x2="36728" y2="21558"/>
                        <a14:foregroundMark x1="34877" y1="20109" x2="34877" y2="20109"/>
                        <a14:foregroundMark x1="34979" y1="27717" x2="34979" y2="27717"/>
                        <a14:foregroundMark x1="37037" y1="18116" x2="31070" y2="21739"/>
                        <a14:foregroundMark x1="31070" y1="21739" x2="35391" y2="7065"/>
                        <a14:foregroundMark x1="35391" y1="7065" x2="42798" y2="11775"/>
                        <a14:foregroundMark x1="42798" y1="11775" x2="40741" y2="22645"/>
                        <a14:foregroundMark x1="40741" y1="22645" x2="37037" y2="25000"/>
                        <a14:foregroundMark x1="24177" y1="17210" x2="24177" y2="17210"/>
                        <a14:foregroundMark x1="24280" y1="14855" x2="24280" y2="14855"/>
                        <a14:foregroundMark x1="24383" y1="14674" x2="24383" y2="14674"/>
                        <a14:foregroundMark x1="64403" y1="21558" x2="55453" y2="15761"/>
                        <a14:foregroundMark x1="55453" y1="15761" x2="61420" y2="9239"/>
                        <a14:foregroundMark x1="61420" y1="9239" x2="55761" y2="23732"/>
                        <a14:foregroundMark x1="55761" y1="23732" x2="53086" y2="22101"/>
                        <a14:foregroundMark x1="49280" y1="17572" x2="49280" y2="17572"/>
                        <a14:foregroundMark x1="86008" y1="24638" x2="80247" y2="20290"/>
                        <a14:foregroundMark x1="80247" y1="20290" x2="87449" y2="13406"/>
                        <a14:foregroundMark x1="87449" y1="13406" x2="87860" y2="18841"/>
                        <a14:foregroundMark x1="83230" y1="16304" x2="83230" y2="16304"/>
                        <a14:foregroundMark x1="77984" y1="14312" x2="89403" y2="17029"/>
                        <a14:foregroundMark x1="89403" y1="17029" x2="85494" y2="24638"/>
                        <a14:foregroundMark x1="85494" y1="24638" x2="83128" y2="23732"/>
                        <a14:foregroundMark x1="89712" y1="11413" x2="91358" y2="21014"/>
                        <a14:foregroundMark x1="91358" y1="21014" x2="87140" y2="25362"/>
                        <a14:foregroundMark x1="83951" y1="59783" x2="78498" y2="55978"/>
                        <a14:foregroundMark x1="78498" y1="55978" x2="85905" y2="53986"/>
                        <a14:foregroundMark x1="85905" y1="53986" x2="83128" y2="58514"/>
                        <a14:foregroundMark x1="40226" y1="56884" x2="34979" y2="57790"/>
                        <a14:foregroundMark x1="34979" y1="57790" x2="40535" y2="51449"/>
                        <a14:foregroundMark x1="40535" y1="51449" x2="40741" y2="52174"/>
                        <a14:foregroundMark x1="16461" y1="54710" x2="10905" y2="49275"/>
                        <a14:foregroundMark x1="10905" y1="49275" x2="5658" y2="62500"/>
                        <a14:foregroundMark x1="5658" y1="62500" x2="11317" y2="50906"/>
                        <a14:foregroundMark x1="11317" y1="50906" x2="14918" y2="49638"/>
                        <a14:foregroundMark x1="11317" y1="81522" x2="5350" y2="88043"/>
                        <a14:foregroundMark x1="5350" y1="88043" x2="12346" y2="84420"/>
                        <a14:foregroundMark x1="11934" y1="77536" x2="11420" y2="87681"/>
                        <a14:foregroundMark x1="11420" y1="87681" x2="4733" y2="85326"/>
                        <a14:foregroundMark x1="4733" y1="85326" x2="5041" y2="83333"/>
                        <a14:foregroundMark x1="14403" y1="88043" x2="5041" y2="87862"/>
                        <a14:foregroundMark x1="5041" y1="87862" x2="12963" y2="91848"/>
                        <a14:foregroundMark x1="12963" y1="91848" x2="16667" y2="85326"/>
                        <a14:foregroundMark x1="25103" y1="54167" x2="25103" y2="54167"/>
                        <a14:foregroundMark x1="24897" y1="51812" x2="24897" y2="51812"/>
                        <a14:foregroundMark x1="12963" y1="69022" x2="12963" y2="69022"/>
                        <a14:foregroundMark x1="58539" y1="53986" x2="58539" y2="53986"/>
                        <a14:foregroundMark x1="73148" y1="54167" x2="73148" y2="54167"/>
                        <a14:foregroundMark x1="85494" y1="35507" x2="85494" y2="35507"/>
                        <a14:foregroundMark x1="93930" y1="44384" x2="93930" y2="44384"/>
                        <a14:backgroundMark x1="70885" y1="17754" x2="70885" y2="17754"/>
                        <a14:backgroundMark x1="44136" y1="34783" x2="44136" y2="34783"/>
                        <a14:backgroundMark x1="75617" y1="31159" x2="75617" y2="31159"/>
                        <a14:backgroundMark x1="84877" y1="29348" x2="84877" y2="29348"/>
                      </a14:backgroundRemoval>
                    </a14:imgEffect>
                  </a14:imgLayer>
                </a14:imgProps>
              </a:ext>
            </a:extLst>
          </a:blip>
          <a:stretch>
            <a:fillRect/>
          </a:stretch>
        </p:blipFill>
        <p:spPr>
          <a:xfrm>
            <a:off x="2044935" y="1130709"/>
            <a:ext cx="8991241" cy="5106137"/>
          </a:xfrm>
          <a:prstGeom prst="rect">
            <a:avLst/>
          </a:prstGeom>
        </p:spPr>
      </p:pic>
      <p:pic>
        <p:nvPicPr>
          <p:cNvPr id="5122" name="Picture 2">
            <a:extLst>
              <a:ext uri="{FF2B5EF4-FFF2-40B4-BE49-F238E27FC236}">
                <a16:creationId xmlns:a16="http://schemas.microsoft.com/office/drawing/2014/main" id="{AA4BDA61-4AEE-CE61-C3AF-EFFCDA88817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53980" y="4919980"/>
            <a:ext cx="1938020" cy="1938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159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0B51C2F-B750-FE66-6245-D0583ADE0886}"/>
              </a:ext>
            </a:extLst>
          </p:cNvPr>
          <p:cNvSpPr>
            <a:spLocks noGrp="1"/>
          </p:cNvSpPr>
          <p:nvPr/>
        </p:nvSpPr>
        <p:spPr bwMode="auto">
          <a:xfrm>
            <a:off x="989780" y="180974"/>
            <a:ext cx="9560232" cy="145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defTabSz="503238" rtl="0" eaLnBrk="0" fontAlgn="base" hangingPunct="0">
              <a:spcBef>
                <a:spcPct val="0"/>
              </a:spcBef>
              <a:spcAft>
                <a:spcPct val="0"/>
              </a:spcAft>
              <a:defRPr sz="3968" kern="1200">
                <a:solidFill>
                  <a:schemeClr val="accent1"/>
                </a:solidFill>
                <a:latin typeface="+mj-lt"/>
                <a:ea typeface="+mj-ea"/>
                <a:cs typeface="+mj-cs"/>
              </a:defRPr>
            </a:lvl1pPr>
            <a:lvl2pPr algn="l" defTabSz="503238" rtl="0" eaLnBrk="0" fontAlgn="base" hangingPunct="0">
              <a:spcBef>
                <a:spcPct val="0"/>
              </a:spcBef>
              <a:spcAft>
                <a:spcPct val="0"/>
              </a:spcAft>
              <a:defRPr sz="3900">
                <a:solidFill>
                  <a:schemeClr val="accent1"/>
                </a:solidFill>
                <a:latin typeface="Trebuchet MS" panose="020B0603020202020204" pitchFamily="34" charset="0"/>
              </a:defRPr>
            </a:lvl2pPr>
            <a:lvl3pPr algn="l" defTabSz="503238" rtl="0" eaLnBrk="0" fontAlgn="base" hangingPunct="0">
              <a:spcBef>
                <a:spcPct val="0"/>
              </a:spcBef>
              <a:spcAft>
                <a:spcPct val="0"/>
              </a:spcAft>
              <a:defRPr sz="3900">
                <a:solidFill>
                  <a:schemeClr val="accent1"/>
                </a:solidFill>
                <a:latin typeface="Trebuchet MS" panose="020B0603020202020204" pitchFamily="34" charset="0"/>
              </a:defRPr>
            </a:lvl3pPr>
            <a:lvl4pPr algn="l" defTabSz="503238" rtl="0" eaLnBrk="0" fontAlgn="base" hangingPunct="0">
              <a:spcBef>
                <a:spcPct val="0"/>
              </a:spcBef>
              <a:spcAft>
                <a:spcPct val="0"/>
              </a:spcAft>
              <a:defRPr sz="3900">
                <a:solidFill>
                  <a:schemeClr val="accent1"/>
                </a:solidFill>
                <a:latin typeface="Trebuchet MS" panose="020B0603020202020204" pitchFamily="34" charset="0"/>
              </a:defRPr>
            </a:lvl4pPr>
            <a:lvl5pPr algn="l" defTabSz="503238" rtl="0" eaLnBrk="0" fontAlgn="base" hangingPunct="0">
              <a:spcBef>
                <a:spcPct val="0"/>
              </a:spcBef>
              <a:spcAft>
                <a:spcPct val="0"/>
              </a:spcAft>
              <a:defRPr sz="3900">
                <a:solidFill>
                  <a:schemeClr val="accent1"/>
                </a:solidFill>
                <a:latin typeface="Trebuchet MS" panose="020B0603020202020204" pitchFamily="34"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defRPr/>
            </a:pPr>
            <a:r>
              <a:rPr lang="en-US"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Framework/Algorithm -</a:t>
            </a:r>
            <a:endParaRPr 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ea typeface="+mn-ea"/>
            </a:endParaRPr>
          </a:p>
        </p:txBody>
      </p:sp>
      <p:sp>
        <p:nvSpPr>
          <p:cNvPr id="6" name="Content Placeholder 2">
            <a:extLst>
              <a:ext uri="{FF2B5EF4-FFF2-40B4-BE49-F238E27FC236}">
                <a16:creationId xmlns:a16="http://schemas.microsoft.com/office/drawing/2014/main" id="{BA8F85D1-D130-7720-6EB8-CF6B8A3F84C3}"/>
              </a:ext>
            </a:extLst>
          </p:cNvPr>
          <p:cNvSpPr>
            <a:spLocks noGrp="1"/>
          </p:cNvSpPr>
          <p:nvPr/>
        </p:nvSpPr>
        <p:spPr bwMode="auto">
          <a:xfrm>
            <a:off x="989780" y="820353"/>
            <a:ext cx="11035071" cy="5768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77825" indent="-377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900" kern="1200">
                <a:solidFill>
                  <a:srgbClr val="404040"/>
                </a:solidFill>
                <a:latin typeface="+mn-lt"/>
                <a:ea typeface="+mn-ea"/>
                <a:cs typeface="+mn-cs"/>
              </a:defRPr>
            </a:lvl1pPr>
            <a:lvl2pPr marL="817563" indent="-3143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700" kern="1200">
                <a:solidFill>
                  <a:srgbClr val="404040"/>
                </a:solidFill>
                <a:latin typeface="+mn-lt"/>
                <a:ea typeface="+mn-ea"/>
                <a:cs typeface="+mn-cs"/>
              </a:defRPr>
            </a:lvl2pPr>
            <a:lvl3pPr marL="1258888"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500" kern="1200">
                <a:solidFill>
                  <a:srgbClr val="404040"/>
                </a:solidFill>
                <a:latin typeface="+mn-lt"/>
                <a:ea typeface="+mn-ea"/>
                <a:cs typeface="+mn-cs"/>
              </a:defRPr>
            </a:lvl3pPr>
            <a:lvl4pPr marL="1763713"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4pPr>
            <a:lvl5pPr marL="2266950" indent="-250825" algn="l" defTabSz="503238" rtl="0" eaLnBrk="0" fontAlgn="base" hangingPunct="0">
              <a:spcBef>
                <a:spcPts val="1100"/>
              </a:spcBef>
              <a:spcAft>
                <a:spcPct val="0"/>
              </a:spcAft>
              <a:buClr>
                <a:schemeClr val="accent1"/>
              </a:buClr>
              <a:buSzPct val="80000"/>
              <a:buFont typeface="Wingdings 3" panose="05040102010807070707" pitchFamily="18" charset="2"/>
              <a:buChar char=""/>
              <a:defRPr sz="1300" kern="1200">
                <a:solidFill>
                  <a:srgbClr val="404040"/>
                </a:solidFill>
                <a:latin typeface="+mn-lt"/>
                <a:ea typeface="+mn-ea"/>
                <a:cs typeface="+mn-cs"/>
              </a:defRPr>
            </a:lvl5pPr>
            <a:lvl6pPr marL="2771844"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6pPr>
            <a:lvl7pPr marL="3275815"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7pPr>
            <a:lvl8pPr marL="3779787"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8pPr>
            <a:lvl9pPr marL="4283758" indent="-251986" algn="l" defTabSz="503972" rtl="0" eaLnBrk="1" latinLnBrk="0" hangingPunct="1">
              <a:spcBef>
                <a:spcPts val="1102"/>
              </a:spcBef>
              <a:spcAft>
                <a:spcPts val="0"/>
              </a:spcAft>
              <a:buClr>
                <a:schemeClr val="accent1"/>
              </a:buClr>
              <a:buSzPct val="80000"/>
              <a:buFont typeface="Wingdings 3" charset="2"/>
              <a:buChar char=""/>
              <a:defRPr sz="1323" kern="1200">
                <a:solidFill>
                  <a:schemeClr val="tx1">
                    <a:lumMod val="75000"/>
                    <a:lumOff val="25000"/>
                  </a:schemeClr>
                </a:solidFill>
                <a:latin typeface="+mn-lt"/>
                <a:ea typeface="+mn-ea"/>
                <a:cs typeface="+mn-cs"/>
              </a:defRPr>
            </a:lvl9pPr>
          </a:lstStyle>
          <a:p>
            <a:pPr>
              <a:buClr>
                <a:schemeClr val="tx1"/>
              </a:buClr>
              <a:buFont typeface="Wingdings" panose="05000000000000000000" pitchFamily="2" charset="2"/>
              <a:buChar char="Ø"/>
              <a:defRPr/>
            </a:pPr>
            <a:r>
              <a:rPr lang="en-GB" altLang="en-US" sz="1800" b="1" dirty="0">
                <a:solidFill>
                  <a:schemeClr val="tx1"/>
                </a:solidFill>
                <a:latin typeface="Times New Roman" panose="02020603050405020304" pitchFamily="18" charset="0"/>
                <a:cs typeface="Times New Roman" panose="02020603050405020304" pitchFamily="18" charset="0"/>
              </a:rPr>
              <a:t>Load Data: </a:t>
            </a:r>
            <a:r>
              <a:rPr lang="en-IN" sz="1800" dirty="0"/>
              <a:t>Read dataset from “</a:t>
            </a:r>
            <a:r>
              <a:rPr lang="en-IN" sz="1800" dirty="0" err="1"/>
              <a:t>amazon_alexa.tsv</a:t>
            </a:r>
            <a:r>
              <a:rPr lang="en-IN" sz="1800" dirty="0"/>
              <a:t>”.</a:t>
            </a:r>
            <a:r>
              <a:rPr lang="en-IN" altLang="en-US" sz="1800" b="1" dirty="0">
                <a:solidFill>
                  <a:schemeClr val="tx1"/>
                </a:solidFill>
                <a:latin typeface="Times New Roman" panose="02020603050405020304" pitchFamily="18" charset="0"/>
                <a:cs typeface="Times New Roman" panose="02020603050405020304" pitchFamily="18" charset="0"/>
              </a:rPr>
              <a:t> </a:t>
            </a:r>
            <a:r>
              <a:rPr lang="en-US" sz="1800" dirty="0"/>
              <a:t>Handle file path and delimiter (tab-separated).</a:t>
            </a:r>
            <a:endParaRPr lang="en-IN" sz="1800" dirty="0"/>
          </a:p>
          <a:p>
            <a:pPr>
              <a:buClr>
                <a:schemeClr val="tx1"/>
              </a:buClr>
              <a:buFont typeface="Wingdings" panose="05000000000000000000" pitchFamily="2" charset="2"/>
              <a:buChar char="Ø"/>
              <a:defRPr/>
            </a:pPr>
            <a:r>
              <a:rPr lang="en-IN" altLang="en-US" sz="1800" b="1" dirty="0">
                <a:solidFill>
                  <a:schemeClr val="tx1"/>
                </a:solidFill>
                <a:latin typeface="Times New Roman" panose="02020603050405020304" pitchFamily="18" charset="0"/>
                <a:cs typeface="Times New Roman" panose="02020603050405020304" pitchFamily="18" charset="0"/>
              </a:rPr>
              <a:t>Data Cleaning: </a:t>
            </a:r>
            <a:r>
              <a:rPr lang="en-US" sz="1800" dirty="0"/>
              <a:t>Drop rows with null values in '</a:t>
            </a:r>
            <a:r>
              <a:rPr lang="en-US" sz="1800" dirty="0" err="1"/>
              <a:t>verified_reviews</a:t>
            </a:r>
            <a:r>
              <a:rPr lang="en-US" sz="1800" dirty="0"/>
              <a:t>’</a:t>
            </a:r>
            <a:r>
              <a:rPr lang="en-IN" sz="1800" dirty="0"/>
              <a:t>. </a:t>
            </a:r>
            <a:r>
              <a:rPr lang="en-US" sz="1800" dirty="0"/>
              <a:t>Create 'length' column for review length.</a:t>
            </a:r>
            <a:endParaRPr lang="en-IN" sz="1800" dirty="0"/>
          </a:p>
          <a:p>
            <a:pPr>
              <a:buClr>
                <a:schemeClr val="tx1"/>
              </a:buClr>
              <a:buFont typeface="Wingdings" panose="05000000000000000000" pitchFamily="2" charset="2"/>
              <a:buChar char="Ø"/>
              <a:defRPr/>
            </a:pPr>
            <a:r>
              <a:rPr lang="en-IN" altLang="en-US" sz="1800" b="1" dirty="0">
                <a:solidFill>
                  <a:schemeClr val="tx1"/>
                </a:solidFill>
                <a:latin typeface="Times New Roman" panose="02020603050405020304" pitchFamily="18" charset="0"/>
                <a:cs typeface="Times New Roman" panose="02020603050405020304" pitchFamily="18" charset="0"/>
              </a:rPr>
              <a:t>Feature Engineering: </a:t>
            </a:r>
            <a:r>
              <a:rPr lang="en-IN" sz="1800" dirty="0" err="1"/>
              <a:t>Analyze</a:t>
            </a:r>
            <a:r>
              <a:rPr lang="en-IN" sz="1800" dirty="0"/>
              <a:t> distributions (rating, feedback, variation). Visualize review length distribution.</a:t>
            </a:r>
          </a:p>
          <a:p>
            <a:pPr>
              <a:buClr>
                <a:schemeClr val="tx1"/>
              </a:buClr>
              <a:buFont typeface="Wingdings" panose="05000000000000000000" pitchFamily="2" charset="2"/>
              <a:buChar char="Ø"/>
              <a:defRPr/>
            </a:pPr>
            <a:r>
              <a:rPr lang="en-IN" altLang="en-US" sz="1800" b="1" dirty="0">
                <a:solidFill>
                  <a:schemeClr val="tx1"/>
                </a:solidFill>
                <a:latin typeface="Times New Roman" panose="02020603050405020304" pitchFamily="18" charset="0"/>
                <a:cs typeface="Times New Roman" panose="02020603050405020304" pitchFamily="18" charset="0"/>
              </a:rPr>
              <a:t>EDA: </a:t>
            </a:r>
            <a:r>
              <a:rPr lang="en-US" sz="1800" dirty="0"/>
              <a:t>Plot bar and pie charts for ratings and feedback distribution. Generate word clouds for overall and    categorized reviews.</a:t>
            </a:r>
          </a:p>
          <a:p>
            <a:pPr>
              <a:buClr>
                <a:schemeClr val="tx1"/>
              </a:buClr>
              <a:buFont typeface="Wingdings" panose="05000000000000000000" pitchFamily="2" charset="2"/>
              <a:buChar char="Ø"/>
              <a:defRPr/>
            </a:pPr>
            <a:r>
              <a:rPr lang="en-US" altLang="en-US" sz="1800" b="1" dirty="0">
                <a:solidFill>
                  <a:schemeClr val="tx1"/>
                </a:solidFill>
                <a:latin typeface="Times New Roman" panose="02020603050405020304" pitchFamily="18" charset="0"/>
                <a:cs typeface="Times New Roman" panose="02020603050405020304" pitchFamily="18" charset="0"/>
              </a:rPr>
              <a:t>Text Preprocessing: </a:t>
            </a:r>
            <a:r>
              <a:rPr lang="en-US" sz="1800" dirty="0"/>
              <a:t>Remove non-alphabet characters from reviews. Convert text to lowercase. Apply stemming and remove </a:t>
            </a:r>
            <a:r>
              <a:rPr lang="en-US" sz="1800" dirty="0" err="1"/>
              <a:t>stopwords</a:t>
            </a:r>
            <a:r>
              <a:rPr lang="en-GB" sz="2400" dirty="0">
                <a:solidFill>
                  <a:schemeClr val="tx1"/>
                </a:solidFill>
                <a:latin typeface="Times New Roman" panose="02020603050405020304" pitchFamily="18" charset="0"/>
                <a:cs typeface="Times New Roman" panose="02020603050405020304" pitchFamily="18" charset="0"/>
              </a:rPr>
              <a:t>.</a:t>
            </a:r>
          </a:p>
          <a:p>
            <a:pPr algn="just">
              <a:buClr>
                <a:schemeClr val="tx1"/>
              </a:buClr>
              <a:buFont typeface="Wingdings" panose="05000000000000000000" pitchFamily="2" charset="2"/>
              <a:buChar char="Ø"/>
              <a:defRPr/>
            </a:pPr>
            <a:r>
              <a:rPr lang="en-GB" altLang="en-US" sz="2000" b="1" dirty="0">
                <a:solidFill>
                  <a:schemeClr val="tx1"/>
                </a:solidFill>
                <a:latin typeface="Times New Roman" panose="02020603050405020304" pitchFamily="18" charset="0"/>
                <a:cs typeface="Times New Roman" panose="02020603050405020304" pitchFamily="18" charset="0"/>
              </a:rPr>
              <a:t>Feature Extraction:</a:t>
            </a:r>
            <a:r>
              <a:rPr lang="en-US" sz="1800" dirty="0">
                <a:latin typeface="Times New Roman" panose="02020603050405020304" pitchFamily="18" charset="0"/>
                <a:cs typeface="Times New Roman" panose="02020603050405020304" pitchFamily="18" charset="0"/>
              </a:rPr>
              <a:t>Use `</a:t>
            </a:r>
            <a:r>
              <a:rPr lang="en-US" sz="1800" dirty="0" err="1">
                <a:latin typeface="Times New Roman" panose="02020603050405020304" pitchFamily="18" charset="0"/>
                <a:cs typeface="Times New Roman" panose="02020603050405020304" pitchFamily="18" charset="0"/>
              </a:rPr>
              <a:t>CountVectorizer</a:t>
            </a:r>
            <a:r>
              <a:rPr lang="en-US" sz="1800" dirty="0">
                <a:latin typeface="Times New Roman" panose="02020603050405020304" pitchFamily="18" charset="0"/>
                <a:cs typeface="Times New Roman" panose="02020603050405020304" pitchFamily="18" charset="0"/>
              </a:rPr>
              <a:t>` to convert text data to numerical features. Fit and transform the data into a feature matrix</a:t>
            </a:r>
            <a:r>
              <a:rPr lang="en-GB" sz="2000" dirty="0">
                <a:solidFill>
                  <a:schemeClr val="tx1"/>
                </a:solidFill>
                <a:latin typeface="Times New Roman" panose="02020603050405020304" pitchFamily="18" charset="0"/>
                <a:cs typeface="Times New Roman" panose="02020603050405020304" pitchFamily="18" charset="0"/>
              </a:rPr>
              <a:t>.</a:t>
            </a:r>
            <a:endParaRPr lang="en-GB" altLang="en-US" sz="2000" b="1" dirty="0">
              <a:solidFill>
                <a:schemeClr val="tx1"/>
              </a:solidFill>
              <a:latin typeface="Times New Roman" panose="02020603050405020304" pitchFamily="18" charset="0"/>
              <a:cs typeface="Times New Roman" panose="02020603050405020304" pitchFamily="18" charset="0"/>
            </a:endParaRPr>
          </a:p>
          <a:p>
            <a:pPr algn="just">
              <a:buClr>
                <a:schemeClr val="tx1"/>
              </a:buClr>
              <a:buFont typeface="Wingdings" panose="05000000000000000000" pitchFamily="2" charset="2"/>
              <a:buChar char="Ø"/>
              <a:defRPr/>
            </a:pPr>
            <a:r>
              <a:rPr lang="en-IN" altLang="en-US" sz="1800" b="1" dirty="0">
                <a:solidFill>
                  <a:schemeClr val="tx1"/>
                </a:solidFill>
                <a:latin typeface="Times New Roman" panose="02020603050405020304" pitchFamily="18" charset="0"/>
                <a:cs typeface="Times New Roman" panose="02020603050405020304" pitchFamily="18" charset="0"/>
              </a:rPr>
              <a:t>Split Data(Train/Test): </a:t>
            </a:r>
            <a:r>
              <a:rPr lang="en-US" sz="1800" dirty="0">
                <a:latin typeface="Times New Roman" panose="02020603050405020304" pitchFamily="18" charset="0"/>
                <a:cs typeface="Times New Roman" panose="02020603050405020304" pitchFamily="18" charset="0"/>
              </a:rPr>
              <a:t>Split data into training (70%) and testing (30%) sets.</a:t>
            </a:r>
            <a:endParaRPr lang="en-IN" altLang="en-US" sz="1800" b="1" dirty="0">
              <a:solidFill>
                <a:schemeClr val="tx1"/>
              </a:solidFill>
              <a:latin typeface="Times New Roman" panose="02020603050405020304" pitchFamily="18" charset="0"/>
              <a:cs typeface="Times New Roman" panose="02020603050405020304" pitchFamily="18" charset="0"/>
            </a:endParaRPr>
          </a:p>
          <a:p>
            <a:pPr algn="just">
              <a:buClr>
                <a:schemeClr val="tx1"/>
              </a:buClr>
              <a:buFont typeface="Wingdings" panose="05000000000000000000" pitchFamily="2" charset="2"/>
              <a:buChar char="Ø"/>
              <a:defRPr/>
            </a:pPr>
            <a:r>
              <a:rPr lang="en-IN" altLang="en-US" sz="1800" b="1" dirty="0">
                <a:solidFill>
                  <a:schemeClr val="tx1"/>
                </a:solidFill>
                <a:latin typeface="Times New Roman" panose="02020603050405020304" pitchFamily="18" charset="0"/>
                <a:cs typeface="Times New Roman" panose="02020603050405020304" pitchFamily="18" charset="0"/>
              </a:rPr>
              <a:t>Scale Data: </a:t>
            </a:r>
            <a:r>
              <a:rPr lang="en-US" sz="1800" dirty="0">
                <a:latin typeface="Times New Roman" panose="02020603050405020304" pitchFamily="18" charset="0"/>
                <a:cs typeface="Times New Roman" panose="02020603050405020304" pitchFamily="18" charset="0"/>
              </a:rPr>
              <a:t>Normalize feature values using `</a:t>
            </a:r>
            <a:r>
              <a:rPr lang="en-US" sz="1800" dirty="0" err="1">
                <a:latin typeface="Times New Roman" panose="02020603050405020304" pitchFamily="18" charset="0"/>
                <a:cs typeface="Times New Roman" panose="02020603050405020304" pitchFamily="18" charset="0"/>
              </a:rPr>
              <a:t>MinMaxScaler</a:t>
            </a:r>
            <a:r>
              <a:rPr lang="en-US" sz="1800" dirty="0">
                <a:latin typeface="Times New Roman" panose="02020603050405020304" pitchFamily="18" charset="0"/>
                <a:cs typeface="Times New Roman" panose="02020603050405020304" pitchFamily="18" charset="0"/>
              </a:rPr>
              <a:t>`</a:t>
            </a:r>
            <a:r>
              <a:rPr lang="en-IN" altLang="en-US" sz="1800" b="1" dirty="0">
                <a:solidFill>
                  <a:schemeClr val="tx1"/>
                </a:solidFill>
                <a:latin typeface="Times New Roman" panose="02020603050405020304" pitchFamily="18" charset="0"/>
                <a:cs typeface="Times New Roman" panose="02020603050405020304" pitchFamily="18" charset="0"/>
              </a:rPr>
              <a:t> </a:t>
            </a:r>
          </a:p>
          <a:p>
            <a:pPr algn="just">
              <a:buClr>
                <a:schemeClr val="tx1"/>
              </a:buClr>
              <a:buFont typeface="Wingdings" panose="05000000000000000000" pitchFamily="2" charset="2"/>
              <a:buChar char="Ø"/>
              <a:defRPr/>
            </a:pPr>
            <a:r>
              <a:rPr lang="en-IN" altLang="en-US" sz="1800" b="1" dirty="0">
                <a:solidFill>
                  <a:schemeClr val="tx1"/>
                </a:solidFill>
                <a:latin typeface="Times New Roman" panose="02020603050405020304" pitchFamily="18" charset="0"/>
                <a:cs typeface="Times New Roman" panose="02020603050405020304" pitchFamily="18" charset="0"/>
              </a:rPr>
              <a:t>Model Building: </a:t>
            </a:r>
            <a:r>
              <a:rPr lang="en-US" sz="1800" dirty="0">
                <a:latin typeface="Times New Roman" panose="02020603050405020304" pitchFamily="18" charset="0"/>
                <a:cs typeface="Times New Roman" panose="02020603050405020304" pitchFamily="18" charset="0"/>
              </a:rPr>
              <a:t>Train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Classifier on the scaled training data. Other models like</a:t>
            </a:r>
          </a:p>
          <a:p>
            <a:pPr marL="0" indent="0" algn="just">
              <a:buClr>
                <a:schemeClr val="tx1"/>
              </a:buClr>
              <a:buNone/>
              <a:defRPr/>
            </a:pPr>
            <a:r>
              <a:rPr lang="en-US" sz="1800" dirty="0">
                <a:latin typeface="Times New Roman" panose="02020603050405020304" pitchFamily="18" charset="0"/>
                <a:cs typeface="Times New Roman" panose="02020603050405020304" pitchFamily="18" charset="0"/>
              </a:rPr>
              <a:t>       Decision Tree and Random Forest could also be tested</a:t>
            </a:r>
            <a:r>
              <a:rPr lang="en-IN" sz="1800" b="1" dirty="0">
                <a:solidFill>
                  <a:schemeClr val="tx1"/>
                </a:solidFill>
                <a:latin typeface="Times New Roman" panose="02020603050405020304" pitchFamily="18" charset="0"/>
                <a:cs typeface="Times New Roman" panose="02020603050405020304" pitchFamily="18" charset="0"/>
              </a:rPr>
              <a:t>.</a:t>
            </a:r>
            <a:endParaRPr lang="en-IN" altLang="en-US" sz="1800" b="1" dirty="0">
              <a:solidFill>
                <a:schemeClr val="tx1"/>
              </a:solidFill>
              <a:latin typeface="Times New Roman" panose="02020603050405020304" pitchFamily="18" charset="0"/>
              <a:cs typeface="Times New Roman" panose="02020603050405020304" pitchFamily="18" charset="0"/>
            </a:endParaRPr>
          </a:p>
          <a:p>
            <a:pPr algn="just">
              <a:buClr>
                <a:schemeClr val="tx1"/>
              </a:buClr>
              <a:buFont typeface="Wingdings" panose="05000000000000000000" pitchFamily="2" charset="2"/>
              <a:buChar char="Ø"/>
              <a:defRPr/>
            </a:pPr>
            <a:r>
              <a:rPr lang="en-US" altLang="en-US" sz="1800" b="1" dirty="0">
                <a:solidFill>
                  <a:schemeClr val="tx1"/>
                </a:solidFill>
                <a:latin typeface="Times New Roman" panose="02020603050405020304" pitchFamily="18" charset="0"/>
                <a:cs typeface="Times New Roman" panose="02020603050405020304" pitchFamily="18" charset="0"/>
              </a:rPr>
              <a:t>Model evaluation: </a:t>
            </a:r>
            <a:r>
              <a:rPr lang="en-US" altLang="en-US" sz="1800" dirty="0">
                <a:solidFill>
                  <a:schemeClr val="tx1"/>
                </a:solidFill>
                <a:latin typeface="Times New Roman" panose="02020603050405020304" pitchFamily="18" charset="0"/>
                <a:cs typeface="Times New Roman" panose="02020603050405020304" pitchFamily="18" charset="0"/>
              </a:rPr>
              <a:t>V</a:t>
            </a:r>
            <a:r>
              <a:rPr lang="en-US" sz="1800" dirty="0">
                <a:latin typeface="Times New Roman" panose="02020603050405020304" pitchFamily="18" charset="0"/>
                <a:cs typeface="Times New Roman" panose="02020603050405020304" pitchFamily="18" charset="0"/>
              </a:rPr>
              <a:t>aluate model accuracy on both training and test sets.</a:t>
            </a:r>
          </a:p>
          <a:p>
            <a:pPr marL="0" indent="0" algn="just">
              <a:buClr>
                <a:schemeClr val="tx1"/>
              </a:buClr>
              <a:buFont typeface="Wingdings 3" panose="05040102010807070707" pitchFamily="18" charset="2"/>
              <a:buNone/>
              <a:defRPr/>
            </a:pPr>
            <a:r>
              <a:rPr lang="en-US" sz="1800" dirty="0">
                <a:latin typeface="Times New Roman" panose="02020603050405020304" pitchFamily="18" charset="0"/>
                <a:cs typeface="Times New Roman" panose="02020603050405020304" pitchFamily="18" charset="0"/>
              </a:rPr>
              <a:t>       Generate confusion matrix and visualize with </a:t>
            </a:r>
            <a:r>
              <a:rPr lang="en-US" altLang="en-US" sz="1800" dirty="0">
                <a:solidFill>
                  <a:schemeClr val="tx1"/>
                </a:solidFill>
                <a:latin typeface="Times New Roman" panose="02020603050405020304" pitchFamily="18" charset="0"/>
                <a:cs typeface="Times New Roman" panose="02020603050405020304" pitchFamily="18" charset="0"/>
              </a:rPr>
              <a:t>‘Confusion Matrix’.</a:t>
            </a:r>
            <a:endParaRPr lang="en-GB" altLang="en-US" sz="2000" dirty="0">
              <a:solidFill>
                <a:schemeClr val="tx1"/>
              </a:solidFill>
              <a:latin typeface="Times New Roman" panose="02020603050405020304" pitchFamily="18" charset="0"/>
              <a:cs typeface="Times New Roman" panose="02020603050405020304" pitchFamily="18" charset="0"/>
            </a:endParaRPr>
          </a:p>
          <a:p>
            <a:pPr>
              <a:buClr>
                <a:schemeClr val="tx1"/>
              </a:buClr>
              <a:buFont typeface="Wingdings" panose="05000000000000000000" pitchFamily="2" charset="2"/>
              <a:buChar char="Ø"/>
              <a:defRPr/>
            </a:pPr>
            <a:endParaRPr lang="en-GB" altLang="en-US" sz="1800" b="1" dirty="0">
              <a:solidFill>
                <a:schemeClr val="tx1"/>
              </a:solidFill>
              <a:latin typeface="Times New Roman" panose="02020603050405020304" pitchFamily="18" charset="0"/>
              <a:cs typeface="Times New Roman" panose="02020603050405020304" pitchFamily="18" charset="0"/>
            </a:endParaRPr>
          </a:p>
        </p:txBody>
      </p:sp>
      <p:pic>
        <p:nvPicPr>
          <p:cNvPr id="7" name="Picture 2" descr="Implementation Clipart Images | Free Download | PNG Transparent Background  - Pngtree">
            <a:extLst>
              <a:ext uri="{FF2B5EF4-FFF2-40B4-BE49-F238E27FC236}">
                <a16:creationId xmlns:a16="http://schemas.microsoft.com/office/drawing/2014/main" id="{10BC38F3-DDE8-493E-3055-0A677086B0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03403" y="4531360"/>
            <a:ext cx="2488597" cy="2488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53353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2B37CAD-8449-8693-5A17-3C85FF3A7712}"/>
              </a:ext>
            </a:extLst>
          </p:cNvPr>
          <p:cNvSpPr>
            <a:spLocks noChangeArrowheads="1"/>
          </p:cNvSpPr>
          <p:nvPr/>
        </p:nvSpPr>
        <p:spPr bwMode="auto">
          <a:xfrm>
            <a:off x="1236817" y="170631"/>
            <a:ext cx="9386424" cy="1262063"/>
          </a:xfrm>
          <a:prstGeom prst="rect">
            <a:avLst/>
          </a:prstGeom>
          <a:noFill/>
          <a:ln>
            <a:noFill/>
          </a:ln>
          <a:effectLst/>
        </p:spPr>
        <p:txBody>
          <a:bodyPr lIns="0" tIns="31680" rIns="0" bIns="0" anchor="ctr"/>
          <a:ls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a:lstStyle>
          <a:p>
            <a:pPr eaLnBrk="1" fontAlgn="auto" hangingPunct="1">
              <a:spcBef>
                <a:spcPts val="0"/>
              </a:spcBef>
              <a:spcAft>
                <a:spcPts val="0"/>
              </a:spcAft>
              <a:defRPr/>
            </a:pPr>
            <a: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Technology Stack for Proposed System -</a:t>
            </a:r>
            <a:endParaRPr lang="en-IN" altLang="en-US" sz="4000" b="1" u="sng" dirty="0">
              <a:solidFill>
                <a:srgbClr val="FF0000"/>
              </a:solidFill>
              <a:effectLst>
                <a:outerShdw blurRad="38100" dist="38100" dir="2700000" algn="tl">
                  <a:srgbClr val="000000">
                    <a:alpha val="43137"/>
                  </a:srgbClr>
                </a:outerShdw>
              </a:effectLst>
              <a:latin typeface="Times New Roman" panose="02020603050405020304" pitchFamily="18" charset="0"/>
              <a:cs typeface="DejaVu Sans" charset="0"/>
            </a:endParaRPr>
          </a:p>
        </p:txBody>
      </p:sp>
      <p:sp>
        <p:nvSpPr>
          <p:cNvPr id="6" name="Content Placeholder 2">
            <a:extLst>
              <a:ext uri="{FF2B5EF4-FFF2-40B4-BE49-F238E27FC236}">
                <a16:creationId xmlns:a16="http://schemas.microsoft.com/office/drawing/2014/main" id="{91026CF8-593F-EDE5-69D7-32742EB641E6}"/>
              </a:ext>
            </a:extLst>
          </p:cNvPr>
          <p:cNvSpPr txBox="1">
            <a:spLocks/>
          </p:cNvSpPr>
          <p:nvPr/>
        </p:nvSpPr>
        <p:spPr bwMode="auto">
          <a:xfrm>
            <a:off x="1402787" y="1344204"/>
            <a:ext cx="9386425" cy="560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en-US"/>
            </a:defPPr>
            <a:lvl1pPr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Trebuchet MS" panose="020B0603020202020204" pitchFamily="34" charset="0"/>
                <a:ea typeface="+mn-ea"/>
                <a:cs typeface="+mn-cs"/>
              </a:defRPr>
            </a:lvl5pPr>
            <a:lvl6pPr marL="2286000" algn="l" defTabSz="914400" rtl="0" eaLnBrk="1" latinLnBrk="0" hangingPunct="1">
              <a:defRPr kern="1200">
                <a:solidFill>
                  <a:schemeClr val="tx1"/>
                </a:solidFill>
                <a:latin typeface="Trebuchet MS" panose="020B0603020202020204" pitchFamily="34" charset="0"/>
                <a:ea typeface="+mn-ea"/>
                <a:cs typeface="+mn-cs"/>
              </a:defRPr>
            </a:lvl6pPr>
            <a:lvl7pPr marL="2743200" algn="l" defTabSz="914400" rtl="0" eaLnBrk="1" latinLnBrk="0" hangingPunct="1">
              <a:defRPr kern="1200">
                <a:solidFill>
                  <a:schemeClr val="tx1"/>
                </a:solidFill>
                <a:latin typeface="Trebuchet MS" panose="020B0603020202020204" pitchFamily="34" charset="0"/>
                <a:ea typeface="+mn-ea"/>
                <a:cs typeface="+mn-cs"/>
              </a:defRPr>
            </a:lvl7pPr>
            <a:lvl8pPr marL="3200400" algn="l" defTabSz="914400" rtl="0" eaLnBrk="1" latinLnBrk="0" hangingPunct="1">
              <a:defRPr kern="1200">
                <a:solidFill>
                  <a:schemeClr val="tx1"/>
                </a:solidFill>
                <a:latin typeface="Trebuchet MS" panose="020B0603020202020204" pitchFamily="34" charset="0"/>
                <a:ea typeface="+mn-ea"/>
                <a:cs typeface="+mn-cs"/>
              </a:defRPr>
            </a:lvl8pPr>
            <a:lvl9pPr marL="3657600" algn="l" defTabSz="914400" rtl="0" eaLnBrk="1" latinLnBrk="0" hangingPunct="1">
              <a:defRPr kern="1200">
                <a:solidFill>
                  <a:schemeClr val="tx1"/>
                </a:solidFill>
                <a:latin typeface="Trebuchet MS" panose="020B0603020202020204" pitchFamily="34" charset="0"/>
                <a:ea typeface="+mn-ea"/>
                <a:cs typeface="+mn-cs"/>
              </a:defRPr>
            </a:lvl9pPr>
          </a:lstStyle>
          <a:p>
            <a:pPr algn="just" defTabSz="914400">
              <a:spcBef>
                <a:spcPct val="20000"/>
              </a:spcBef>
              <a:buClrTx/>
              <a:buSzTx/>
              <a:buFont typeface="Wingdings" panose="05000000000000000000" pitchFamily="2" charset="2"/>
              <a:buChar char="§"/>
            </a:pPr>
            <a:r>
              <a:rPr lang="en-IN" altLang="en-US" dirty="0">
                <a:latin typeface="Times New Roman" panose="02020603050405020304" pitchFamily="18" charset="0"/>
                <a:cs typeface="Times New Roman" panose="02020603050405020304" pitchFamily="18" charset="0"/>
              </a:rPr>
              <a:t> Python</a:t>
            </a:r>
          </a:p>
          <a:p>
            <a:pPr algn="just" defTabSz="914400">
              <a:spcBef>
                <a:spcPct val="20000"/>
              </a:spcBef>
              <a:buClrTx/>
              <a:buSzTx/>
              <a:buFont typeface="Wingdings" panose="05000000000000000000" pitchFamily="2" charset="2"/>
              <a:buChar char="§"/>
            </a:pPr>
            <a:r>
              <a:rPr lang="en-IN" altLang="en-US" dirty="0">
                <a:solidFill>
                  <a:srgbClr val="000000"/>
                </a:solidFill>
                <a:latin typeface="Times New Roman" panose="02020603050405020304" pitchFamily="18" charset="0"/>
                <a:cs typeface="Times New Roman" panose="02020603050405020304" pitchFamily="18" charset="0"/>
              </a:rPr>
              <a:t> Scikit-Learn</a:t>
            </a:r>
          </a:p>
          <a:p>
            <a:pPr algn="just" defTabSz="914400">
              <a:spcBef>
                <a:spcPct val="20000"/>
              </a:spcBef>
              <a:buClrTx/>
              <a:buSzTx/>
              <a:buFont typeface="Wingdings" panose="05000000000000000000" pitchFamily="2" charset="2"/>
              <a:buChar char="§"/>
            </a:pPr>
            <a:r>
              <a:rPr lang="en-IN" altLang="en-US" dirty="0">
                <a:solidFill>
                  <a:srgbClr val="000000"/>
                </a:solidFill>
                <a:latin typeface="Times New Roman" panose="02020603050405020304" pitchFamily="18" charset="0"/>
                <a:cs typeface="Times New Roman" panose="02020603050405020304" pitchFamily="18" charset="0"/>
              </a:rPr>
              <a:t> </a:t>
            </a:r>
            <a:r>
              <a:rPr lang="en-IN" altLang="en-US" dirty="0" err="1">
                <a:solidFill>
                  <a:srgbClr val="000000"/>
                </a:solidFill>
                <a:latin typeface="Times New Roman" panose="02020603050405020304" pitchFamily="18" charset="0"/>
                <a:cs typeface="Times New Roman" panose="02020603050405020304" pitchFamily="18" charset="0"/>
              </a:rPr>
              <a:t>XGBoost</a:t>
            </a:r>
            <a:endParaRPr lang="en-IN" altLang="en-US" dirty="0">
              <a:solidFill>
                <a:srgbClr val="000000"/>
              </a:solidFill>
              <a:latin typeface="Times New Roman" panose="02020603050405020304" pitchFamily="18" charset="0"/>
              <a:cs typeface="Times New Roman" panose="02020603050405020304" pitchFamily="18" charset="0"/>
            </a:endParaRPr>
          </a:p>
          <a:p>
            <a:pPr algn="just" defTabSz="914400">
              <a:spcBef>
                <a:spcPct val="20000"/>
              </a:spcBef>
              <a:buClrTx/>
              <a:buSzTx/>
              <a:buFont typeface="Wingdings" panose="05000000000000000000" pitchFamily="2" charset="2"/>
              <a:buChar char="§"/>
            </a:pPr>
            <a:r>
              <a:rPr lang="en-IN" altLang="en-US" dirty="0">
                <a:solidFill>
                  <a:srgbClr val="000000"/>
                </a:solidFill>
                <a:latin typeface="Times New Roman" panose="02020603050405020304" pitchFamily="18" charset="0"/>
                <a:cs typeface="Times New Roman" panose="02020603050405020304" pitchFamily="18" charset="0"/>
              </a:rPr>
              <a:t> NLTK(Natural Language Toolkit)</a:t>
            </a:r>
          </a:p>
          <a:p>
            <a:pPr algn="just" defTabSz="914400">
              <a:spcBef>
                <a:spcPct val="20000"/>
              </a:spcBef>
              <a:buClrTx/>
              <a:buSzTx/>
              <a:buFont typeface="Wingdings" panose="05000000000000000000" pitchFamily="2" charset="2"/>
              <a:buChar char="§"/>
            </a:pPr>
            <a:r>
              <a:rPr lang="en-IN" altLang="en-US" dirty="0">
                <a:solidFill>
                  <a:srgbClr val="000000"/>
                </a:solidFill>
                <a:latin typeface="Times New Roman" panose="02020603050405020304" pitchFamily="18" charset="0"/>
                <a:cs typeface="Times New Roman" panose="02020603050405020304" pitchFamily="18" charset="0"/>
              </a:rPr>
              <a:t> </a:t>
            </a:r>
            <a:r>
              <a:rPr lang="en-IN" altLang="en-US" dirty="0" err="1">
                <a:solidFill>
                  <a:srgbClr val="000000"/>
                </a:solidFill>
                <a:latin typeface="Times New Roman" panose="02020603050405020304" pitchFamily="18" charset="0"/>
                <a:cs typeface="Times New Roman" panose="02020603050405020304" pitchFamily="18" charset="0"/>
              </a:rPr>
              <a:t>CountVectorizer</a:t>
            </a:r>
            <a:endParaRPr lang="en-IN" altLang="en-US" dirty="0">
              <a:solidFill>
                <a:srgbClr val="000000"/>
              </a:solidFill>
              <a:latin typeface="Times New Roman" panose="02020603050405020304" pitchFamily="18" charset="0"/>
              <a:cs typeface="Times New Roman" panose="02020603050405020304" pitchFamily="18" charset="0"/>
            </a:endParaRPr>
          </a:p>
          <a:p>
            <a:pPr algn="just" defTabSz="914400">
              <a:spcBef>
                <a:spcPct val="20000"/>
              </a:spcBef>
              <a:buClrTx/>
              <a:buSzTx/>
              <a:buFont typeface="Wingdings" panose="05000000000000000000" pitchFamily="2" charset="2"/>
              <a:buChar char="§"/>
            </a:pPr>
            <a:r>
              <a:rPr lang="en-IN" altLang="en-US" dirty="0">
                <a:solidFill>
                  <a:srgbClr val="000000"/>
                </a:solidFill>
                <a:latin typeface="Times New Roman" panose="02020603050405020304" pitchFamily="18" charset="0"/>
                <a:cs typeface="Times New Roman" panose="02020603050405020304" pitchFamily="18" charset="0"/>
              </a:rPr>
              <a:t> </a:t>
            </a:r>
            <a:r>
              <a:rPr lang="en-IN" altLang="en-US" dirty="0" err="1">
                <a:solidFill>
                  <a:srgbClr val="000000"/>
                </a:solidFill>
                <a:latin typeface="Times New Roman" panose="02020603050405020304" pitchFamily="18" charset="0"/>
                <a:cs typeface="Times New Roman" panose="02020603050405020304" pitchFamily="18" charset="0"/>
              </a:rPr>
              <a:t>MinMaxScaler</a:t>
            </a:r>
            <a:endParaRPr lang="en-IN" altLang="en-US" dirty="0">
              <a:solidFill>
                <a:srgbClr val="000000"/>
              </a:solidFill>
              <a:latin typeface="Times New Roman" panose="02020603050405020304" pitchFamily="18" charset="0"/>
              <a:cs typeface="Times New Roman" panose="02020603050405020304" pitchFamily="18" charset="0"/>
            </a:endParaRPr>
          </a:p>
          <a:p>
            <a:pPr algn="just" defTabSz="914400">
              <a:spcBef>
                <a:spcPct val="20000"/>
              </a:spcBef>
              <a:buClrTx/>
              <a:buSzTx/>
              <a:buFont typeface="Wingdings" panose="05000000000000000000" pitchFamily="2" charset="2"/>
              <a:buChar char="§"/>
            </a:pPr>
            <a:r>
              <a:rPr lang="en-IN" altLang="en-US" dirty="0">
                <a:solidFill>
                  <a:srgbClr val="000000"/>
                </a:solidFill>
                <a:latin typeface="Times New Roman" panose="02020603050405020304" pitchFamily="18" charset="0"/>
                <a:cs typeface="Times New Roman" panose="02020603050405020304" pitchFamily="18" charset="0"/>
              </a:rPr>
              <a:t> Matplotlib and Seaborn</a:t>
            </a:r>
          </a:p>
          <a:p>
            <a:pPr algn="just" defTabSz="914400">
              <a:spcBef>
                <a:spcPct val="20000"/>
              </a:spcBef>
              <a:buClrTx/>
              <a:buSzTx/>
              <a:buFont typeface="Wingdings" panose="05000000000000000000" pitchFamily="2" charset="2"/>
              <a:buChar char="§"/>
            </a:pPr>
            <a:r>
              <a:rPr lang="en-IN" altLang="en-US" dirty="0">
                <a:solidFill>
                  <a:srgbClr val="000000"/>
                </a:solidFill>
                <a:latin typeface="Times New Roman" panose="02020603050405020304" pitchFamily="18" charset="0"/>
                <a:cs typeface="Times New Roman" panose="02020603050405020304" pitchFamily="18" charset="0"/>
              </a:rPr>
              <a:t> </a:t>
            </a:r>
            <a:r>
              <a:rPr lang="en-IN" altLang="en-US" dirty="0" err="1">
                <a:solidFill>
                  <a:srgbClr val="000000"/>
                </a:solidFill>
                <a:latin typeface="Times New Roman" panose="02020603050405020304" pitchFamily="18" charset="0"/>
                <a:cs typeface="Times New Roman" panose="02020603050405020304" pitchFamily="18" charset="0"/>
              </a:rPr>
              <a:t>Jupyter</a:t>
            </a:r>
            <a:r>
              <a:rPr lang="en-IN" altLang="en-US" dirty="0">
                <a:solidFill>
                  <a:srgbClr val="000000"/>
                </a:solidFill>
                <a:latin typeface="Times New Roman" panose="02020603050405020304" pitchFamily="18" charset="0"/>
                <a:cs typeface="Times New Roman" panose="02020603050405020304" pitchFamily="18" charset="0"/>
              </a:rPr>
              <a:t> Notebook</a:t>
            </a:r>
          </a:p>
          <a:p>
            <a:pPr algn="just" defTabSz="914400">
              <a:spcBef>
                <a:spcPct val="20000"/>
              </a:spcBef>
              <a:buClrTx/>
              <a:buSzTx/>
              <a:buFont typeface="Wingdings" panose="05000000000000000000" pitchFamily="2" charset="2"/>
              <a:buChar char="§"/>
            </a:pPr>
            <a:endParaRPr lang="en-GB" altLang="en-US" sz="2400" dirty="0">
              <a:solidFill>
                <a:srgbClr val="000000"/>
              </a:solidFill>
              <a:latin typeface="Times New Roman" panose="02020603050405020304" pitchFamily="18" charset="0"/>
              <a:cs typeface="Times New Roman" panose="02020603050405020304" pitchFamily="18" charset="0"/>
            </a:endParaRPr>
          </a:p>
          <a:p>
            <a:pPr algn="just" defTabSz="914400">
              <a:spcBef>
                <a:spcPct val="20000"/>
              </a:spcBef>
              <a:buClrTx/>
              <a:buSzTx/>
              <a:buFont typeface="Arial" panose="020B0604020202020204" pitchFamily="34" charset="0"/>
              <a:buChar char="•"/>
            </a:pPr>
            <a:endParaRPr lang="en-GB" altLang="en-US" sz="2000" dirty="0">
              <a:solidFill>
                <a:srgbClr val="000000"/>
              </a:solidFill>
              <a:latin typeface="Source Sans Pro" panose="020B0503030403020204" pitchFamily="34" charset="0"/>
            </a:endParaRPr>
          </a:p>
          <a:p>
            <a:pPr algn="just" defTabSz="914400">
              <a:spcBef>
                <a:spcPct val="20000"/>
              </a:spcBef>
              <a:buClrTx/>
              <a:buSzTx/>
              <a:buFont typeface="Arial" panose="020B0604020202020204" pitchFamily="34" charset="0"/>
              <a:buChar char="•"/>
            </a:pPr>
            <a:endParaRPr lang="en-GB" altLang="en-US" sz="2000" dirty="0">
              <a:solidFill>
                <a:srgbClr val="000000"/>
              </a:solidFill>
              <a:latin typeface="Source Sans Pro" panose="020B0503030403020204" pitchFamily="34" charset="0"/>
            </a:endParaRPr>
          </a:p>
          <a:p>
            <a:pPr algn="just" defTabSz="914400">
              <a:spcBef>
                <a:spcPct val="20000"/>
              </a:spcBef>
              <a:buClrTx/>
              <a:buSzTx/>
              <a:buFont typeface="Arial" panose="020B0604020202020204" pitchFamily="34" charset="0"/>
              <a:buNone/>
            </a:pPr>
            <a:endParaRPr lang="en-GB" altLang="en-US" sz="2000" dirty="0">
              <a:solidFill>
                <a:srgbClr val="000000"/>
              </a:solidFill>
              <a:latin typeface="Source Sans Pro" panose="020B0503030403020204" pitchFamily="34" charset="0"/>
            </a:endParaRPr>
          </a:p>
          <a:p>
            <a:pPr algn="just" defTabSz="914400">
              <a:spcBef>
                <a:spcPct val="20000"/>
              </a:spcBef>
              <a:buClrTx/>
              <a:buSzTx/>
              <a:buFont typeface="Arial" panose="020B0604020202020204" pitchFamily="34" charset="0"/>
              <a:buChar char="•"/>
            </a:pPr>
            <a:endParaRPr lang="en-GB" altLang="en-US" sz="2000" dirty="0">
              <a:solidFill>
                <a:srgbClr val="000000"/>
              </a:solidFill>
              <a:latin typeface="Source Sans Pro" panose="020B0503030403020204" pitchFamily="34" charset="0"/>
            </a:endParaRPr>
          </a:p>
        </p:txBody>
      </p:sp>
      <p:pic>
        <p:nvPicPr>
          <p:cNvPr id="3084" name="Picture 12">
            <a:extLst>
              <a:ext uri="{FF2B5EF4-FFF2-40B4-BE49-F238E27FC236}">
                <a16:creationId xmlns:a16="http://schemas.microsoft.com/office/drawing/2014/main" id="{EFFA1427-B44E-6A22-497C-EDB2B54DB0FE}"/>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30625" y1="27813" x2="30625" y2="27813"/>
                        <a14:foregroundMark x1="47865" y1="21927" x2="47865" y2="21927"/>
                        <a14:foregroundMark x1="36354" y1="18802" x2="36354" y2="18802"/>
                        <a14:foregroundMark x1="13750" y1="29531" x2="13750" y2="29531"/>
                        <a14:foregroundMark x1="15313" y1="35677" x2="15313" y2="35677"/>
                        <a14:foregroundMark x1="28646" y1="35990" x2="28646" y2="35990"/>
                        <a14:foregroundMark x1="40260" y1="36146" x2="40260" y2="36146"/>
                        <a14:foregroundMark x1="43542" y1="30990" x2="43542" y2="30990"/>
                        <a14:foregroundMark x1="53594" y1="30521" x2="53594" y2="30521"/>
                        <a14:foregroundMark x1="62344" y1="29531" x2="62344" y2="29531"/>
                        <a14:foregroundMark x1="56146" y1="34844" x2="56146" y2="34844"/>
                        <a14:foregroundMark x1="52031" y1="41146" x2="52031" y2="41146"/>
                        <a14:foregroundMark x1="39948" y1="49896" x2="39948" y2="49896"/>
                        <a14:foregroundMark x1="30781" y1="51458" x2="30781" y2="51458"/>
                        <a14:foregroundMark x1="29375" y1="56615" x2="29375" y2="56615"/>
                        <a14:foregroundMark x1="26042" y1="42031" x2="26042" y2="42031"/>
                        <a14:foregroundMark x1="13750" y1="45156" x2="13750" y2="45156"/>
                        <a14:foregroundMark x1="45417" y1="59479" x2="45417" y2="59479"/>
                        <a14:foregroundMark x1="56042" y1="65365" x2="56042" y2="65365"/>
                        <a14:foregroundMark x1="67344" y1="60365" x2="67344" y2="60365"/>
                        <a14:foregroundMark x1="63750" y1="48594" x2="63750" y2="48594"/>
                        <a14:foregroundMark x1="61771" y1="52031" x2="61771" y2="52031"/>
                        <a14:foregroundMark x1="74063" y1="41458" x2="74063" y2="41458"/>
                        <a14:foregroundMark x1="69792" y1="33542" x2="69792" y2="33542"/>
                        <a14:foregroundMark x1="63021" y1="18073" x2="63021" y2="18073"/>
                        <a14:foregroundMark x1="80677" y1="31094" x2="80677" y2="31094"/>
                        <a14:foregroundMark x1="73229" y1="28125" x2="73229" y2="28125"/>
                        <a14:foregroundMark x1="86823" y1="43021" x2="86823" y2="43021"/>
                        <a14:foregroundMark x1="78542" y1="47604" x2="78542" y2="47604"/>
                        <a14:foregroundMark x1="77552" y1="55052" x2="77552" y2="55052"/>
                        <a14:foregroundMark x1="77083" y1="59635" x2="77083" y2="59635"/>
                        <a14:foregroundMark x1="83125" y1="53646" x2="83125" y2="53646"/>
                        <a14:foregroundMark x1="85417" y1="59948" x2="85417" y2="59948"/>
                        <a14:foregroundMark x1="67917" y1="66354" x2="67917" y2="66354"/>
                        <a14:foregroundMark x1="67760" y1="71250" x2="67760" y2="71250"/>
                        <a14:foregroundMark x1="58750" y1="71094" x2="58750" y2="71094"/>
                        <a14:foregroundMark x1="62604" y1="80885" x2="62604" y2="80885"/>
                        <a14:foregroundMark x1="68906" y1="82448" x2="68906" y2="82448"/>
                      </a14:backgroundRemoval>
                    </a14:imgEffect>
                  </a14:imgLayer>
                </a14:imgProps>
              </a:ext>
              <a:ext uri="{28A0092B-C50C-407E-A947-70E740481C1C}">
                <a14:useLocalDpi xmlns:a14="http://schemas.microsoft.com/office/drawing/2010/main" val="0"/>
              </a:ext>
            </a:extLst>
          </a:blip>
          <a:srcRect/>
          <a:stretch>
            <a:fillRect/>
          </a:stretch>
        </p:blipFill>
        <p:spPr bwMode="auto">
          <a:xfrm>
            <a:off x="9537291" y="4298132"/>
            <a:ext cx="2654710" cy="2654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362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3721ACC-C9EC-5FDE-143C-96B03651DA77}"/>
              </a:ext>
            </a:extLst>
          </p:cNvPr>
          <p:cNvSpPr txBox="1"/>
          <p:nvPr/>
        </p:nvSpPr>
        <p:spPr>
          <a:xfrm>
            <a:off x="853440" y="220395"/>
            <a:ext cx="10739120" cy="1323439"/>
          </a:xfrm>
          <a:prstGeom prst="rect">
            <a:avLst/>
          </a:prstGeom>
          <a:noFill/>
        </p:spPr>
        <p:txBody>
          <a:bodyPr wrap="square">
            <a:spAutoFit/>
          </a:bodyPr>
          <a:lstStyle/>
          <a:p>
            <a:r>
              <a:rPr lang="en-US"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ea typeface="+mn-ea"/>
              </a:rPr>
              <a:t>Details of Database / Input to the System -</a:t>
            </a:r>
            <a:br>
              <a:rPr lang="en-US" altLang="en-US" sz="4000" b="1" u="sng" dirty="0">
                <a:latin typeface="Times New Roman" panose="02020603050405020304" pitchFamily="18" charset="0"/>
                <a:cs typeface="Times New Roman" panose="02020603050405020304" pitchFamily="18" charset="0"/>
              </a:rPr>
            </a:br>
            <a:endParaRPr lang="en-IN" sz="4000" u="sng" dirty="0"/>
          </a:p>
        </p:txBody>
      </p:sp>
      <p:sp>
        <p:nvSpPr>
          <p:cNvPr id="10" name="TextBox 9">
            <a:extLst>
              <a:ext uri="{FF2B5EF4-FFF2-40B4-BE49-F238E27FC236}">
                <a16:creationId xmlns:a16="http://schemas.microsoft.com/office/drawing/2014/main" id="{6B056B01-7968-ED50-6070-E99D9179669C}"/>
              </a:ext>
            </a:extLst>
          </p:cNvPr>
          <p:cNvSpPr txBox="1"/>
          <p:nvPr/>
        </p:nvSpPr>
        <p:spPr>
          <a:xfrm>
            <a:off x="853440" y="1075154"/>
            <a:ext cx="10982960" cy="3693319"/>
          </a:xfrm>
          <a:prstGeom prst="rect">
            <a:avLst/>
          </a:prstGeom>
          <a:noFill/>
        </p:spPr>
        <p:txBody>
          <a:bodyPr wrap="square">
            <a:spAutoFit/>
          </a:bodyPr>
          <a:lstStyle/>
          <a:p>
            <a:pPr>
              <a:buClr>
                <a:schemeClr val="tx1"/>
              </a:buClr>
            </a:pPr>
            <a:r>
              <a:rPr lang="en-US" altLang="en-US" sz="1800" dirty="0">
                <a:solidFill>
                  <a:srgbClr val="000000"/>
                </a:solidFill>
                <a:latin typeface="Times New Roman" panose="02020603050405020304" pitchFamily="18" charset="0"/>
                <a:cs typeface="Times New Roman" panose="02020603050405020304" pitchFamily="18" charset="0"/>
              </a:rPr>
              <a:t>This dataset consists of a nearly 3000 Amazon customer reviews (input text), star ratings, date of review, variant and feedback of various amazon Alexa products like Alexa Echo, Echo dots, Alexa Firesticks etc. for learning how to train Machine for sentiment analysis.</a:t>
            </a:r>
          </a:p>
          <a:p>
            <a:pPr>
              <a:buClr>
                <a:schemeClr val="tx1"/>
              </a:buClr>
            </a:pPr>
            <a:endParaRPr lang="en-US" altLang="en-US" sz="1800" dirty="0">
              <a:solidFill>
                <a:srgbClr val="000000"/>
              </a:solidFill>
              <a:latin typeface="Times New Roman" panose="02020603050405020304" pitchFamily="18" charset="0"/>
              <a:cs typeface="Times New Roman" panose="02020603050405020304" pitchFamily="18" charset="0"/>
            </a:endParaRPr>
          </a:p>
          <a:p>
            <a:pPr>
              <a:buClr>
                <a:schemeClr val="tx1"/>
              </a:buClr>
            </a:pPr>
            <a:r>
              <a:rPr lang="en-US" altLang="en-US" sz="1800" b="1" dirty="0">
                <a:solidFill>
                  <a:srgbClr val="000000"/>
                </a:solidFill>
                <a:latin typeface="Times New Roman" panose="02020603050405020304" pitchFamily="18" charset="0"/>
                <a:cs typeface="Times New Roman" panose="02020603050405020304" pitchFamily="18" charset="0"/>
              </a:rPr>
              <a:t>What you can do with this Data ?</a:t>
            </a:r>
          </a:p>
          <a:p>
            <a:pPr>
              <a:buClr>
                <a:schemeClr val="tx1"/>
              </a:buClr>
            </a:pPr>
            <a:r>
              <a:rPr lang="en-US" altLang="en-US" dirty="0">
                <a:solidFill>
                  <a:srgbClr val="000000"/>
                </a:solidFill>
                <a:latin typeface="Times New Roman" panose="02020603050405020304" pitchFamily="18" charset="0"/>
                <a:cs typeface="Times New Roman" panose="02020603050405020304" pitchFamily="18" charset="0"/>
              </a:rPr>
              <a:t>We</a:t>
            </a:r>
            <a:r>
              <a:rPr lang="en-US" altLang="en-US" sz="1800" dirty="0">
                <a:solidFill>
                  <a:srgbClr val="000000"/>
                </a:solidFill>
                <a:latin typeface="Times New Roman" panose="02020603050405020304" pitchFamily="18" charset="0"/>
                <a:cs typeface="Times New Roman" panose="02020603050405020304" pitchFamily="18" charset="0"/>
              </a:rPr>
              <a:t> can use this data to analyze Amazon’s Alexa product ; discover insights into consumer reviews and assist with machine learning </a:t>
            </a:r>
            <a:r>
              <a:rPr lang="en-US" altLang="en-US" sz="1800" dirty="0" err="1">
                <a:solidFill>
                  <a:srgbClr val="000000"/>
                </a:solidFill>
                <a:latin typeface="Times New Roman" panose="02020603050405020304" pitchFamily="18" charset="0"/>
                <a:cs typeface="Times New Roman" panose="02020603050405020304" pitchFamily="18" charset="0"/>
              </a:rPr>
              <a:t>models.</a:t>
            </a:r>
            <a:r>
              <a:rPr lang="en-US" altLang="en-US" dirty="0" err="1">
                <a:solidFill>
                  <a:srgbClr val="000000"/>
                </a:solidFill>
                <a:latin typeface="Times New Roman" panose="02020603050405020304" pitchFamily="18" charset="0"/>
                <a:cs typeface="Times New Roman" panose="02020603050405020304" pitchFamily="18" charset="0"/>
              </a:rPr>
              <a:t>We</a:t>
            </a:r>
            <a:r>
              <a:rPr lang="en-US" altLang="en-US" sz="1800" dirty="0">
                <a:solidFill>
                  <a:srgbClr val="000000"/>
                </a:solidFill>
                <a:latin typeface="Times New Roman" panose="02020603050405020304" pitchFamily="18" charset="0"/>
                <a:cs typeface="Times New Roman" panose="02020603050405020304" pitchFamily="18" charset="0"/>
              </a:rPr>
              <a:t> can also train your machine models for sentiment analysis and analyze customer reviews how many positive reviews ? and how many negative reviews ?</a:t>
            </a:r>
          </a:p>
          <a:p>
            <a:pPr>
              <a:buClr>
                <a:schemeClr val="tx1"/>
              </a:buClr>
            </a:pPr>
            <a:endParaRPr lang="en-US" altLang="en-US" dirty="0">
              <a:solidFill>
                <a:srgbClr val="000000"/>
              </a:solidFill>
              <a:latin typeface="Times New Roman" panose="02020603050405020304" pitchFamily="18" charset="0"/>
              <a:cs typeface="Times New Roman" panose="02020603050405020304" pitchFamily="18" charset="0"/>
            </a:endParaRPr>
          </a:p>
          <a:p>
            <a:pPr>
              <a:buClr>
                <a:schemeClr val="tx1"/>
              </a:buClr>
            </a:pPr>
            <a:r>
              <a:rPr lang="en-US" altLang="en-US" sz="1800" b="1" dirty="0">
                <a:solidFill>
                  <a:srgbClr val="000000"/>
                </a:solidFill>
                <a:latin typeface="Times New Roman" panose="02020603050405020304" pitchFamily="18" charset="0"/>
                <a:cs typeface="Times New Roman" panose="02020603050405020304" pitchFamily="18" charset="0"/>
              </a:rPr>
              <a:t>Source: Extracted from Amazon's website</a:t>
            </a:r>
          </a:p>
          <a:p>
            <a:pPr>
              <a:buClr>
                <a:schemeClr val="tx1"/>
              </a:buClr>
            </a:pPr>
            <a:endParaRPr lang="en-US" altLang="en-US" b="1" dirty="0">
              <a:solidFill>
                <a:srgbClr val="000000"/>
              </a:solidFill>
              <a:latin typeface="Times New Roman" panose="02020603050405020304" pitchFamily="18" charset="0"/>
              <a:cs typeface="Times New Roman" panose="02020603050405020304" pitchFamily="18" charset="0"/>
            </a:endParaRPr>
          </a:p>
          <a:p>
            <a:pPr>
              <a:buClr>
                <a:schemeClr val="tx1"/>
              </a:buClr>
            </a:pPr>
            <a:r>
              <a:rPr lang="en-US" altLang="en-US" b="1" dirty="0">
                <a:solidFill>
                  <a:srgbClr val="000000"/>
                </a:solidFill>
                <a:latin typeface="Times New Roman" panose="02020603050405020304" pitchFamily="18" charset="0"/>
                <a:cs typeface="Times New Roman" panose="02020603050405020304" pitchFamily="18" charset="0"/>
              </a:rPr>
              <a:t>Dataset link -</a:t>
            </a:r>
          </a:p>
          <a:p>
            <a:pPr>
              <a:buClr>
                <a:schemeClr val="tx1"/>
              </a:buClr>
            </a:pPr>
            <a:r>
              <a:rPr lang="en-US" altLang="en-US" sz="1800" dirty="0">
                <a:solidFill>
                  <a:srgbClr val="000000"/>
                </a:solidFill>
                <a:latin typeface="Times New Roman" panose="02020603050405020304" pitchFamily="18" charset="0"/>
                <a:cs typeface="Times New Roman" panose="02020603050405020304" pitchFamily="18" charset="0"/>
              </a:rPr>
              <a:t>https://www.kaggle.com/datasets/sid321axn/amazon-alexa-reviews</a:t>
            </a:r>
          </a:p>
        </p:txBody>
      </p:sp>
      <p:pic>
        <p:nvPicPr>
          <p:cNvPr id="6148" name="Picture 4">
            <a:extLst>
              <a:ext uri="{FF2B5EF4-FFF2-40B4-BE49-F238E27FC236}">
                <a16:creationId xmlns:a16="http://schemas.microsoft.com/office/drawing/2014/main" id="{3B2437A7-C0C8-51B9-5C85-0CDE647F6E3B}"/>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foregroundMark x1="55469" y1="51875" x2="55469" y2="51875"/>
                        <a14:foregroundMark x1="81875" y1="60156" x2="81875" y2="60156"/>
                        <a14:foregroundMark x1="25313" y1="55000" x2="25313" y2="55000"/>
                      </a14:backgroundRemoval>
                    </a14:imgEffect>
                  </a14:imgLayer>
                </a14:imgProps>
              </a:ext>
              <a:ext uri="{28A0092B-C50C-407E-A947-70E740481C1C}">
                <a14:useLocalDpi xmlns:a14="http://schemas.microsoft.com/office/drawing/2010/main" val="0"/>
              </a:ext>
            </a:extLst>
          </a:blip>
          <a:srcRect/>
          <a:stretch>
            <a:fillRect/>
          </a:stretch>
        </p:blipFill>
        <p:spPr bwMode="auto">
          <a:xfrm>
            <a:off x="9906000" y="4576752"/>
            <a:ext cx="2092960" cy="20929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6528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4F1F6E8-CA6A-1BB0-7E32-E33F14C289D3}"/>
              </a:ext>
            </a:extLst>
          </p:cNvPr>
          <p:cNvSpPr txBox="1"/>
          <p:nvPr/>
        </p:nvSpPr>
        <p:spPr>
          <a:xfrm>
            <a:off x="792480" y="0"/>
            <a:ext cx="12405360" cy="1323439"/>
          </a:xfrm>
          <a:prstGeom prst="rect">
            <a:avLst/>
          </a:prstGeom>
          <a:noFill/>
        </p:spPr>
        <p:txBody>
          <a:bodyPr wrap="square">
            <a:spAutoFit/>
          </a:bodyPr>
          <a:lstStyle/>
          <a:p>
            <a:pPr eaLnBrk="1" fontAlgn="auto" hangingPunct="1">
              <a:spcBef>
                <a:spcPts val="0"/>
              </a:spcBef>
              <a:spcAft>
                <a:spcPts val="0"/>
              </a:spcAft>
              <a:defRPr/>
            </a:pPr>
            <a: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Implementation</a:t>
            </a:r>
          </a:p>
          <a:p>
            <a:pPr eaLnBrk="1" fontAlgn="auto" hangingPunct="1">
              <a:spcBef>
                <a:spcPts val="0"/>
              </a:spcBef>
              <a:spcAft>
                <a:spcPts val="0"/>
              </a:spcAft>
              <a:defRPr/>
            </a:pPr>
            <a: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(Screenshots of implementation 50%) - </a:t>
            </a:r>
          </a:p>
        </p:txBody>
      </p:sp>
      <p:pic>
        <p:nvPicPr>
          <p:cNvPr id="11" name="Picture 10">
            <a:extLst>
              <a:ext uri="{FF2B5EF4-FFF2-40B4-BE49-F238E27FC236}">
                <a16:creationId xmlns:a16="http://schemas.microsoft.com/office/drawing/2014/main" id="{CAE3A922-E993-0BE9-F071-B4DC408DD0E4}"/>
              </a:ext>
            </a:extLst>
          </p:cNvPr>
          <p:cNvPicPr>
            <a:picLocks noChangeAspect="1"/>
          </p:cNvPicPr>
          <p:nvPr/>
        </p:nvPicPr>
        <p:blipFill>
          <a:blip r:embed="rId2"/>
          <a:stretch>
            <a:fillRect/>
          </a:stretch>
        </p:blipFill>
        <p:spPr>
          <a:xfrm>
            <a:off x="1533980" y="1498404"/>
            <a:ext cx="9753780" cy="5001013"/>
          </a:xfrm>
          <a:prstGeom prst="rect">
            <a:avLst/>
          </a:prstGeom>
        </p:spPr>
      </p:pic>
    </p:spTree>
    <p:extLst>
      <p:ext uri="{BB962C8B-B14F-4D97-AF65-F5344CB8AC3E}">
        <p14:creationId xmlns:p14="http://schemas.microsoft.com/office/powerpoint/2010/main" val="3086584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739205-C701-9A3E-17F7-F3FD82E982D6}"/>
              </a:ext>
            </a:extLst>
          </p:cNvPr>
          <p:cNvPicPr>
            <a:picLocks noChangeAspect="1"/>
          </p:cNvPicPr>
          <p:nvPr/>
        </p:nvPicPr>
        <p:blipFill>
          <a:blip r:embed="rId2"/>
          <a:stretch>
            <a:fillRect/>
          </a:stretch>
        </p:blipFill>
        <p:spPr>
          <a:xfrm>
            <a:off x="1442721" y="137160"/>
            <a:ext cx="10038079" cy="6583680"/>
          </a:xfrm>
          <a:prstGeom prst="rect">
            <a:avLst/>
          </a:prstGeom>
        </p:spPr>
      </p:pic>
    </p:spTree>
    <p:extLst>
      <p:ext uri="{BB962C8B-B14F-4D97-AF65-F5344CB8AC3E}">
        <p14:creationId xmlns:p14="http://schemas.microsoft.com/office/powerpoint/2010/main" val="1958767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2D3B233-5266-3ABF-F5C0-474B78F5B009}"/>
              </a:ext>
            </a:extLst>
          </p:cNvPr>
          <p:cNvPicPr>
            <a:picLocks noChangeAspect="1"/>
          </p:cNvPicPr>
          <p:nvPr/>
        </p:nvPicPr>
        <p:blipFill>
          <a:blip r:embed="rId2"/>
          <a:stretch>
            <a:fillRect/>
          </a:stretch>
        </p:blipFill>
        <p:spPr>
          <a:xfrm>
            <a:off x="1442722" y="137160"/>
            <a:ext cx="10038078" cy="6583680"/>
          </a:xfrm>
          <a:prstGeom prst="rect">
            <a:avLst/>
          </a:prstGeom>
        </p:spPr>
      </p:pic>
    </p:spTree>
    <p:extLst>
      <p:ext uri="{BB962C8B-B14F-4D97-AF65-F5344CB8AC3E}">
        <p14:creationId xmlns:p14="http://schemas.microsoft.com/office/powerpoint/2010/main" val="1263397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36B6D26-9451-3476-C135-5188229A6860}"/>
              </a:ext>
            </a:extLst>
          </p:cNvPr>
          <p:cNvPicPr>
            <a:picLocks noChangeAspect="1"/>
          </p:cNvPicPr>
          <p:nvPr/>
        </p:nvPicPr>
        <p:blipFill>
          <a:blip r:embed="rId2"/>
          <a:stretch>
            <a:fillRect/>
          </a:stretch>
        </p:blipFill>
        <p:spPr>
          <a:xfrm>
            <a:off x="2078248" y="280774"/>
            <a:ext cx="8630391" cy="6296452"/>
          </a:xfrm>
          <a:prstGeom prst="rect">
            <a:avLst/>
          </a:prstGeom>
        </p:spPr>
      </p:pic>
    </p:spTree>
    <p:extLst>
      <p:ext uri="{BB962C8B-B14F-4D97-AF65-F5344CB8AC3E}">
        <p14:creationId xmlns:p14="http://schemas.microsoft.com/office/powerpoint/2010/main" val="592384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159E79B-FB6B-BCDB-A131-F239F0561895}"/>
              </a:ext>
            </a:extLst>
          </p:cNvPr>
          <p:cNvPicPr>
            <a:picLocks noChangeAspect="1"/>
          </p:cNvPicPr>
          <p:nvPr/>
        </p:nvPicPr>
        <p:blipFill>
          <a:blip r:embed="rId2"/>
          <a:stretch>
            <a:fillRect/>
          </a:stretch>
        </p:blipFill>
        <p:spPr>
          <a:xfrm>
            <a:off x="1767840" y="155976"/>
            <a:ext cx="9326880" cy="6376904"/>
          </a:xfrm>
          <a:prstGeom prst="rect">
            <a:avLst/>
          </a:prstGeom>
        </p:spPr>
      </p:pic>
    </p:spTree>
    <p:extLst>
      <p:ext uri="{BB962C8B-B14F-4D97-AF65-F5344CB8AC3E}">
        <p14:creationId xmlns:p14="http://schemas.microsoft.com/office/powerpoint/2010/main" val="25319987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829AA6-AC1F-54B1-6D59-8A59BE1C734A}"/>
              </a:ext>
            </a:extLst>
          </p:cNvPr>
          <p:cNvPicPr>
            <a:picLocks noChangeAspect="1"/>
          </p:cNvPicPr>
          <p:nvPr/>
        </p:nvPicPr>
        <p:blipFill>
          <a:blip r:embed="rId2"/>
          <a:stretch>
            <a:fillRect/>
          </a:stretch>
        </p:blipFill>
        <p:spPr>
          <a:xfrm>
            <a:off x="1503680" y="255143"/>
            <a:ext cx="9966960" cy="6347713"/>
          </a:xfrm>
          <a:prstGeom prst="rect">
            <a:avLst/>
          </a:prstGeom>
        </p:spPr>
      </p:pic>
    </p:spTree>
    <p:extLst>
      <p:ext uri="{BB962C8B-B14F-4D97-AF65-F5344CB8AC3E}">
        <p14:creationId xmlns:p14="http://schemas.microsoft.com/office/powerpoint/2010/main" val="2201553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D364C4-471A-30A6-01D4-90877AD85B3C}"/>
              </a:ext>
            </a:extLst>
          </p:cNvPr>
          <p:cNvPicPr>
            <a:picLocks noChangeAspect="1"/>
          </p:cNvPicPr>
          <p:nvPr/>
        </p:nvPicPr>
        <p:blipFill>
          <a:blip r:embed="rId2"/>
          <a:stretch>
            <a:fillRect/>
          </a:stretch>
        </p:blipFill>
        <p:spPr>
          <a:xfrm>
            <a:off x="1595120" y="259080"/>
            <a:ext cx="9906275" cy="6339839"/>
          </a:xfrm>
          <a:prstGeom prst="rect">
            <a:avLst/>
          </a:prstGeom>
        </p:spPr>
      </p:pic>
    </p:spTree>
    <p:extLst>
      <p:ext uri="{BB962C8B-B14F-4D97-AF65-F5344CB8AC3E}">
        <p14:creationId xmlns:p14="http://schemas.microsoft.com/office/powerpoint/2010/main" val="2244840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23A1654-3368-D5C1-A61A-14D1BB599AC6}"/>
              </a:ext>
            </a:extLst>
          </p:cNvPr>
          <p:cNvPicPr>
            <a:picLocks noChangeAspect="1"/>
          </p:cNvPicPr>
          <p:nvPr/>
        </p:nvPicPr>
        <p:blipFill>
          <a:blip r:embed="rId2"/>
          <a:stretch>
            <a:fillRect/>
          </a:stretch>
        </p:blipFill>
        <p:spPr>
          <a:xfrm>
            <a:off x="1532530" y="431055"/>
            <a:ext cx="9851836" cy="5995889"/>
          </a:xfrm>
          <a:prstGeom prst="rect">
            <a:avLst/>
          </a:prstGeom>
        </p:spPr>
      </p:pic>
    </p:spTree>
    <p:extLst>
      <p:ext uri="{BB962C8B-B14F-4D97-AF65-F5344CB8AC3E}">
        <p14:creationId xmlns:p14="http://schemas.microsoft.com/office/powerpoint/2010/main" val="3856865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AEBB5D-08AD-933A-1F9C-44F195EA8405}"/>
              </a:ext>
            </a:extLst>
          </p:cNvPr>
          <p:cNvPicPr>
            <a:picLocks noChangeAspect="1"/>
          </p:cNvPicPr>
          <p:nvPr/>
        </p:nvPicPr>
        <p:blipFill>
          <a:blip r:embed="rId2"/>
          <a:stretch>
            <a:fillRect/>
          </a:stretch>
        </p:blipFill>
        <p:spPr>
          <a:xfrm>
            <a:off x="1351281" y="314960"/>
            <a:ext cx="10251440" cy="6116580"/>
          </a:xfrm>
          <a:prstGeom prst="rect">
            <a:avLst/>
          </a:prstGeom>
        </p:spPr>
      </p:pic>
    </p:spTree>
    <p:extLst>
      <p:ext uri="{BB962C8B-B14F-4D97-AF65-F5344CB8AC3E}">
        <p14:creationId xmlns:p14="http://schemas.microsoft.com/office/powerpoint/2010/main" val="8173208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46810B1-BAED-73C8-A43A-C2A1683D0FA7}"/>
              </a:ext>
            </a:extLst>
          </p:cNvPr>
          <p:cNvPicPr>
            <a:picLocks noChangeAspect="1"/>
          </p:cNvPicPr>
          <p:nvPr/>
        </p:nvPicPr>
        <p:blipFill>
          <a:blip r:embed="rId2"/>
          <a:stretch>
            <a:fillRect/>
          </a:stretch>
        </p:blipFill>
        <p:spPr>
          <a:xfrm>
            <a:off x="1444982" y="340360"/>
            <a:ext cx="9995178" cy="6177279"/>
          </a:xfrm>
          <a:prstGeom prst="rect">
            <a:avLst/>
          </a:prstGeom>
        </p:spPr>
      </p:pic>
    </p:spTree>
    <p:extLst>
      <p:ext uri="{BB962C8B-B14F-4D97-AF65-F5344CB8AC3E}">
        <p14:creationId xmlns:p14="http://schemas.microsoft.com/office/powerpoint/2010/main" val="1092698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6D9E81-BD51-5C7D-941F-FD7D55BD719B}"/>
              </a:ext>
            </a:extLst>
          </p:cNvPr>
          <p:cNvPicPr>
            <a:picLocks noChangeAspect="1"/>
          </p:cNvPicPr>
          <p:nvPr/>
        </p:nvPicPr>
        <p:blipFill>
          <a:blip r:embed="rId2"/>
          <a:stretch>
            <a:fillRect/>
          </a:stretch>
        </p:blipFill>
        <p:spPr>
          <a:xfrm>
            <a:off x="2073564" y="319259"/>
            <a:ext cx="8533475" cy="6219481"/>
          </a:xfrm>
          <a:prstGeom prst="rect">
            <a:avLst/>
          </a:prstGeom>
        </p:spPr>
      </p:pic>
    </p:spTree>
    <p:extLst>
      <p:ext uri="{BB962C8B-B14F-4D97-AF65-F5344CB8AC3E}">
        <p14:creationId xmlns:p14="http://schemas.microsoft.com/office/powerpoint/2010/main" val="6093162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8E9A13-9485-70EF-2165-D941788F2268}"/>
              </a:ext>
            </a:extLst>
          </p:cNvPr>
          <p:cNvPicPr>
            <a:picLocks noChangeAspect="1"/>
          </p:cNvPicPr>
          <p:nvPr/>
        </p:nvPicPr>
        <p:blipFill>
          <a:blip r:embed="rId2"/>
          <a:stretch>
            <a:fillRect/>
          </a:stretch>
        </p:blipFill>
        <p:spPr>
          <a:xfrm>
            <a:off x="1741706" y="254000"/>
            <a:ext cx="9364359" cy="6350000"/>
          </a:xfrm>
          <a:prstGeom prst="rect">
            <a:avLst/>
          </a:prstGeom>
        </p:spPr>
      </p:pic>
    </p:spTree>
    <p:extLst>
      <p:ext uri="{BB962C8B-B14F-4D97-AF65-F5344CB8AC3E}">
        <p14:creationId xmlns:p14="http://schemas.microsoft.com/office/powerpoint/2010/main" val="19208406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3BC7F4-D5FD-BF3D-08BC-E4B0ABE9A908}"/>
              </a:ext>
            </a:extLst>
          </p:cNvPr>
          <p:cNvPicPr>
            <a:picLocks noChangeAspect="1"/>
          </p:cNvPicPr>
          <p:nvPr/>
        </p:nvPicPr>
        <p:blipFill>
          <a:blip r:embed="rId2"/>
          <a:stretch>
            <a:fillRect/>
          </a:stretch>
        </p:blipFill>
        <p:spPr>
          <a:xfrm>
            <a:off x="2186614" y="368254"/>
            <a:ext cx="8908106" cy="6121492"/>
          </a:xfrm>
          <a:prstGeom prst="rect">
            <a:avLst/>
          </a:prstGeom>
        </p:spPr>
      </p:pic>
    </p:spTree>
    <p:extLst>
      <p:ext uri="{BB962C8B-B14F-4D97-AF65-F5344CB8AC3E}">
        <p14:creationId xmlns:p14="http://schemas.microsoft.com/office/powerpoint/2010/main" val="35651071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6A3809-E36B-C6CF-0E50-E34659C76B77}"/>
              </a:ext>
            </a:extLst>
          </p:cNvPr>
          <p:cNvPicPr>
            <a:picLocks noChangeAspect="1"/>
          </p:cNvPicPr>
          <p:nvPr/>
        </p:nvPicPr>
        <p:blipFill>
          <a:blip r:embed="rId2"/>
          <a:stretch>
            <a:fillRect/>
          </a:stretch>
        </p:blipFill>
        <p:spPr>
          <a:xfrm>
            <a:off x="1756134" y="408940"/>
            <a:ext cx="9562106" cy="6040120"/>
          </a:xfrm>
          <a:prstGeom prst="rect">
            <a:avLst/>
          </a:prstGeom>
        </p:spPr>
      </p:pic>
    </p:spTree>
    <p:extLst>
      <p:ext uri="{BB962C8B-B14F-4D97-AF65-F5344CB8AC3E}">
        <p14:creationId xmlns:p14="http://schemas.microsoft.com/office/powerpoint/2010/main" val="19192593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60BF32-08AA-F7CA-F9C5-582E206571F6}"/>
              </a:ext>
            </a:extLst>
          </p:cNvPr>
          <p:cNvPicPr>
            <a:picLocks noChangeAspect="1"/>
          </p:cNvPicPr>
          <p:nvPr/>
        </p:nvPicPr>
        <p:blipFill>
          <a:blip r:embed="rId2"/>
          <a:stretch>
            <a:fillRect/>
          </a:stretch>
        </p:blipFill>
        <p:spPr>
          <a:xfrm>
            <a:off x="1113778" y="297180"/>
            <a:ext cx="10639437" cy="6263640"/>
          </a:xfrm>
          <a:prstGeom prst="rect">
            <a:avLst/>
          </a:prstGeom>
        </p:spPr>
      </p:pic>
    </p:spTree>
    <p:extLst>
      <p:ext uri="{BB962C8B-B14F-4D97-AF65-F5344CB8AC3E}">
        <p14:creationId xmlns:p14="http://schemas.microsoft.com/office/powerpoint/2010/main" val="2954877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126F9A-4166-08F8-1AC2-82D30222CFFD}"/>
              </a:ext>
            </a:extLst>
          </p:cNvPr>
          <p:cNvPicPr>
            <a:picLocks noChangeAspect="1"/>
          </p:cNvPicPr>
          <p:nvPr/>
        </p:nvPicPr>
        <p:blipFill>
          <a:blip r:embed="rId2"/>
          <a:stretch>
            <a:fillRect/>
          </a:stretch>
        </p:blipFill>
        <p:spPr>
          <a:xfrm>
            <a:off x="1469210" y="243840"/>
            <a:ext cx="9910814" cy="6370320"/>
          </a:xfrm>
          <a:prstGeom prst="rect">
            <a:avLst/>
          </a:prstGeom>
        </p:spPr>
      </p:pic>
    </p:spTree>
    <p:extLst>
      <p:ext uri="{BB962C8B-B14F-4D97-AF65-F5344CB8AC3E}">
        <p14:creationId xmlns:p14="http://schemas.microsoft.com/office/powerpoint/2010/main" val="1398185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FF0A35C-58A3-F317-2162-9673C236ED1E}"/>
              </a:ext>
            </a:extLst>
          </p:cNvPr>
          <p:cNvPicPr>
            <a:picLocks noChangeAspect="1"/>
          </p:cNvPicPr>
          <p:nvPr/>
        </p:nvPicPr>
        <p:blipFill>
          <a:blip r:embed="rId2"/>
          <a:stretch>
            <a:fillRect/>
          </a:stretch>
        </p:blipFill>
        <p:spPr>
          <a:xfrm>
            <a:off x="1483360" y="328055"/>
            <a:ext cx="10068560" cy="6201889"/>
          </a:xfrm>
          <a:prstGeom prst="rect">
            <a:avLst/>
          </a:prstGeom>
        </p:spPr>
      </p:pic>
    </p:spTree>
    <p:extLst>
      <p:ext uri="{BB962C8B-B14F-4D97-AF65-F5344CB8AC3E}">
        <p14:creationId xmlns:p14="http://schemas.microsoft.com/office/powerpoint/2010/main" val="466639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C9AB65B-C982-D0F0-4829-06236B82D9DC}"/>
              </a:ext>
            </a:extLst>
          </p:cNvPr>
          <p:cNvPicPr>
            <a:picLocks noChangeAspect="1"/>
          </p:cNvPicPr>
          <p:nvPr/>
        </p:nvPicPr>
        <p:blipFill>
          <a:blip r:embed="rId2"/>
          <a:stretch>
            <a:fillRect/>
          </a:stretch>
        </p:blipFill>
        <p:spPr>
          <a:xfrm>
            <a:off x="1283477" y="274320"/>
            <a:ext cx="10383575" cy="6309360"/>
          </a:xfrm>
          <a:prstGeom prst="rect">
            <a:avLst/>
          </a:prstGeom>
        </p:spPr>
      </p:pic>
    </p:spTree>
    <p:extLst>
      <p:ext uri="{BB962C8B-B14F-4D97-AF65-F5344CB8AC3E}">
        <p14:creationId xmlns:p14="http://schemas.microsoft.com/office/powerpoint/2010/main" val="15540888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AED764-6489-CB69-9995-6F8FBCC27185}"/>
              </a:ext>
            </a:extLst>
          </p:cNvPr>
          <p:cNvPicPr>
            <a:picLocks noChangeAspect="1"/>
          </p:cNvPicPr>
          <p:nvPr/>
        </p:nvPicPr>
        <p:blipFill>
          <a:blip r:embed="rId2"/>
          <a:stretch>
            <a:fillRect/>
          </a:stretch>
        </p:blipFill>
        <p:spPr>
          <a:xfrm>
            <a:off x="1117600" y="182880"/>
            <a:ext cx="10637520" cy="6492239"/>
          </a:xfrm>
          <a:prstGeom prst="rect">
            <a:avLst/>
          </a:prstGeom>
        </p:spPr>
      </p:pic>
    </p:spTree>
    <p:extLst>
      <p:ext uri="{BB962C8B-B14F-4D97-AF65-F5344CB8AC3E}">
        <p14:creationId xmlns:p14="http://schemas.microsoft.com/office/powerpoint/2010/main" val="24567008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CCB8E13-AFA1-11C9-7050-466BE9F8C089}"/>
              </a:ext>
            </a:extLst>
          </p:cNvPr>
          <p:cNvPicPr>
            <a:picLocks noChangeAspect="1"/>
          </p:cNvPicPr>
          <p:nvPr/>
        </p:nvPicPr>
        <p:blipFill>
          <a:blip r:embed="rId2"/>
          <a:stretch>
            <a:fillRect/>
          </a:stretch>
        </p:blipFill>
        <p:spPr>
          <a:xfrm>
            <a:off x="1362238" y="350520"/>
            <a:ext cx="10217224" cy="6156960"/>
          </a:xfrm>
          <a:prstGeom prst="rect">
            <a:avLst/>
          </a:prstGeom>
        </p:spPr>
      </p:pic>
    </p:spTree>
    <p:extLst>
      <p:ext uri="{BB962C8B-B14F-4D97-AF65-F5344CB8AC3E}">
        <p14:creationId xmlns:p14="http://schemas.microsoft.com/office/powerpoint/2010/main" val="3217938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BC419D-B565-B826-A740-D65FBCEB0939}"/>
              </a:ext>
            </a:extLst>
          </p:cNvPr>
          <p:cNvPicPr>
            <a:picLocks noChangeAspect="1"/>
          </p:cNvPicPr>
          <p:nvPr/>
        </p:nvPicPr>
        <p:blipFill>
          <a:blip r:embed="rId2"/>
          <a:stretch>
            <a:fillRect/>
          </a:stretch>
        </p:blipFill>
        <p:spPr>
          <a:xfrm>
            <a:off x="1307114" y="320040"/>
            <a:ext cx="10204166" cy="6217920"/>
          </a:xfrm>
          <a:prstGeom prst="rect">
            <a:avLst/>
          </a:prstGeom>
        </p:spPr>
      </p:pic>
    </p:spTree>
    <p:extLst>
      <p:ext uri="{BB962C8B-B14F-4D97-AF65-F5344CB8AC3E}">
        <p14:creationId xmlns:p14="http://schemas.microsoft.com/office/powerpoint/2010/main" val="40798809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78A794-14A3-E310-2A75-19AC4B939620}"/>
              </a:ext>
            </a:extLst>
          </p:cNvPr>
          <p:cNvPicPr>
            <a:picLocks noChangeAspect="1"/>
          </p:cNvPicPr>
          <p:nvPr/>
        </p:nvPicPr>
        <p:blipFill>
          <a:blip r:embed="rId2"/>
          <a:stretch>
            <a:fillRect/>
          </a:stretch>
        </p:blipFill>
        <p:spPr>
          <a:xfrm>
            <a:off x="1950720" y="317500"/>
            <a:ext cx="9245599" cy="6223000"/>
          </a:xfrm>
          <a:prstGeom prst="rect">
            <a:avLst/>
          </a:prstGeom>
        </p:spPr>
      </p:pic>
    </p:spTree>
    <p:extLst>
      <p:ext uri="{BB962C8B-B14F-4D97-AF65-F5344CB8AC3E}">
        <p14:creationId xmlns:p14="http://schemas.microsoft.com/office/powerpoint/2010/main" val="33830110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5990E0-E8A8-A659-62FC-2A80E8371731}"/>
              </a:ext>
            </a:extLst>
          </p:cNvPr>
          <p:cNvPicPr>
            <a:picLocks noChangeAspect="1"/>
          </p:cNvPicPr>
          <p:nvPr/>
        </p:nvPicPr>
        <p:blipFill>
          <a:blip r:embed="rId2"/>
          <a:stretch>
            <a:fillRect/>
          </a:stretch>
        </p:blipFill>
        <p:spPr>
          <a:xfrm>
            <a:off x="1280160" y="202029"/>
            <a:ext cx="10261600" cy="6453941"/>
          </a:xfrm>
          <a:prstGeom prst="rect">
            <a:avLst/>
          </a:prstGeom>
        </p:spPr>
      </p:pic>
    </p:spTree>
    <p:extLst>
      <p:ext uri="{BB962C8B-B14F-4D97-AF65-F5344CB8AC3E}">
        <p14:creationId xmlns:p14="http://schemas.microsoft.com/office/powerpoint/2010/main" val="40130600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7C27BFE-C893-BB1F-38C0-EBABEE1DB379}"/>
              </a:ext>
            </a:extLst>
          </p:cNvPr>
          <p:cNvSpPr>
            <a:spLocks noGrp="1"/>
          </p:cNvSpPr>
          <p:nvPr>
            <p:ph type="title"/>
          </p:nvPr>
        </p:nvSpPr>
        <p:spPr>
          <a:xfrm>
            <a:off x="1057275" y="247650"/>
            <a:ext cx="9601200" cy="1485900"/>
          </a:xfrm>
        </p:spPr>
        <p:txBody>
          <a:bodyPr>
            <a:normAutofit/>
          </a:bodyPr>
          <a:lstStyle/>
          <a:p>
            <a:r>
              <a:rPr lang="en-IN" sz="4000" b="1" u="sng" dirty="0">
                <a:latin typeface="Times New Roman" panose="02020603050405020304" pitchFamily="18" charset="0"/>
                <a:cs typeface="Times New Roman" panose="02020603050405020304" pitchFamily="18" charset="0"/>
              </a:rPr>
              <a:t>CONCLUSION-</a:t>
            </a:r>
          </a:p>
        </p:txBody>
      </p:sp>
      <p:sp>
        <p:nvSpPr>
          <p:cNvPr id="5" name="TextBox 4">
            <a:extLst>
              <a:ext uri="{FF2B5EF4-FFF2-40B4-BE49-F238E27FC236}">
                <a16:creationId xmlns:a16="http://schemas.microsoft.com/office/drawing/2014/main" id="{BD1E5CB2-1DF6-0AC0-3135-BA6E3B8BFEBC}"/>
              </a:ext>
            </a:extLst>
          </p:cNvPr>
          <p:cNvSpPr txBox="1"/>
          <p:nvPr/>
        </p:nvSpPr>
        <p:spPr>
          <a:xfrm>
            <a:off x="990600" y="1419225"/>
            <a:ext cx="10782300" cy="707886"/>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Thus, It extracts emotional insights from text, empowering organizations to adapt and strategize effectively based on public sentiment and feedback.</a:t>
            </a:r>
          </a:p>
        </p:txBody>
      </p:sp>
      <p:pic>
        <p:nvPicPr>
          <p:cNvPr id="6146" name="Picture 2" descr="Conclusion Icon at GetDrawings | Free download">
            <a:extLst>
              <a:ext uri="{FF2B5EF4-FFF2-40B4-BE49-F238E27FC236}">
                <a16:creationId xmlns:a16="http://schemas.microsoft.com/office/drawing/2014/main" id="{FEF34F79-CF0B-ADA8-29E4-75B72DBEBD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2323" y="4178046"/>
            <a:ext cx="2432304" cy="2432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08457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7C27BFE-C893-BB1F-38C0-EBABEE1DB379}"/>
              </a:ext>
            </a:extLst>
          </p:cNvPr>
          <p:cNvSpPr>
            <a:spLocks noGrp="1"/>
          </p:cNvSpPr>
          <p:nvPr>
            <p:ph type="title"/>
          </p:nvPr>
        </p:nvSpPr>
        <p:spPr>
          <a:xfrm>
            <a:off x="1057275" y="646355"/>
            <a:ext cx="9601200" cy="1485900"/>
          </a:xfrm>
        </p:spPr>
        <p:txBody>
          <a:bodyPr>
            <a:normAutofit/>
          </a:bodyPr>
          <a:lstStyle/>
          <a:p>
            <a: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t>References -</a:t>
            </a:r>
            <a:br>
              <a:rPr lang="en-IN" altLang="en-US" sz="4000" b="1" u="sng" dirty="0">
                <a:solidFill>
                  <a:srgbClr val="000000"/>
                </a:solidFill>
                <a:effectLst>
                  <a:outerShdw blurRad="38100" dist="38100" dir="2700000" algn="tl">
                    <a:srgbClr val="000000">
                      <a:alpha val="43137"/>
                    </a:srgbClr>
                  </a:outerShdw>
                </a:effectLst>
                <a:latin typeface="Times New Roman" panose="02020603050405020304" pitchFamily="18" charset="0"/>
                <a:cs typeface="DejaVu Sans" charset="0"/>
              </a:rPr>
            </a:br>
            <a:endParaRPr lang="en-IN" sz="4000" b="1" u="sng"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D1E5CB2-1DF6-0AC0-3135-BA6E3B8BFEBC}"/>
              </a:ext>
            </a:extLst>
          </p:cNvPr>
          <p:cNvSpPr txBox="1"/>
          <p:nvPr/>
        </p:nvSpPr>
        <p:spPr>
          <a:xfrm>
            <a:off x="1057275" y="1493393"/>
            <a:ext cx="10782300" cy="4708981"/>
          </a:xfrm>
          <a:prstGeom prst="rect">
            <a:avLst/>
          </a:prstGeom>
          <a:noFill/>
        </p:spPr>
        <p:txBody>
          <a:bodyPr wrap="square" rtlCol="0">
            <a:spAutoFit/>
          </a:bodyPr>
          <a:lstStyle/>
          <a:p>
            <a:pPr marL="457200" indent="-457200" algn="just">
              <a:buAutoNum type="arabicPeriod"/>
            </a:pPr>
            <a:r>
              <a:rPr lang="en-US" sz="2000" dirty="0">
                <a:latin typeface="Times New Roman" panose="02020603050405020304" pitchFamily="18" charset="0"/>
                <a:cs typeface="Times New Roman" panose="02020603050405020304" pitchFamily="18" charset="0"/>
              </a:rPr>
              <a:t>Sentiment Analysis Is a Big Suitcase (IEEE XPLORE 2020)- </a:t>
            </a:r>
            <a:r>
              <a:rPr lang="en-US" sz="2000" u="sng"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Cambria, Erik, </a:t>
            </a:r>
            <a:r>
              <a:rPr lang="en-IN" sz="2000" dirty="0" err="1">
                <a:latin typeface="Times New Roman" panose="02020603050405020304" pitchFamily="18" charset="0"/>
                <a:cs typeface="Times New Roman" panose="02020603050405020304" pitchFamily="18" charset="0"/>
              </a:rPr>
              <a:t>Soujanya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Poria</a:t>
            </a:r>
            <a:r>
              <a:rPr lang="en-IN" sz="2000" dirty="0">
                <a:latin typeface="Times New Roman" panose="02020603050405020304" pitchFamily="18" charset="0"/>
                <a:cs typeface="Times New Roman" panose="02020603050405020304" pitchFamily="18" charset="0"/>
              </a:rPr>
              <a:t>, Alexander </a:t>
            </a:r>
            <a:r>
              <a:rPr lang="en-IN" sz="2000" dirty="0" err="1">
                <a:latin typeface="Times New Roman" panose="02020603050405020304" pitchFamily="18" charset="0"/>
                <a:cs typeface="Times New Roman" panose="02020603050405020304" pitchFamily="18" charset="0"/>
              </a:rPr>
              <a:t>Gelbukh</a:t>
            </a:r>
            <a:r>
              <a:rPr lang="en-IN" sz="2000" dirty="0">
                <a:latin typeface="Times New Roman" panose="02020603050405020304" pitchFamily="18" charset="0"/>
                <a:cs typeface="Times New Roman" panose="02020603050405020304" pitchFamily="18" charset="0"/>
              </a:rPr>
              <a:t>, Mike </a:t>
            </a:r>
            <a:r>
              <a:rPr lang="en-IN" sz="2000" dirty="0" err="1">
                <a:latin typeface="Times New Roman" panose="02020603050405020304" pitchFamily="18" charset="0"/>
                <a:cs typeface="Times New Roman" panose="02020603050405020304" pitchFamily="18" charset="0"/>
              </a:rPr>
              <a:t>Thelwal</a:t>
            </a:r>
            <a:r>
              <a:rPr lang="en-IN"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457200" indent="-457200" algn="just">
              <a:buAutoNum type="arabicPeriod"/>
            </a:pPr>
            <a:r>
              <a:rPr lang="en-US" sz="2000" dirty="0">
                <a:latin typeface="Times New Roman" panose="02020603050405020304" pitchFamily="18" charset="0"/>
                <a:cs typeface="Times New Roman" panose="02020603050405020304" pitchFamily="18" charset="0"/>
              </a:rPr>
              <a:t>State of the art: a review of sentiment analysis based on sequential transfer learning (IEEE XPLORE 2020) – </a:t>
            </a:r>
            <a:r>
              <a:rPr lang="en-US" sz="2000" u="sng"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Chan, Jireh Yi-Le, </a:t>
            </a:r>
            <a:r>
              <a:rPr lang="en-IN" sz="2000" dirty="0" err="1">
                <a:latin typeface="Times New Roman" panose="02020603050405020304" pitchFamily="18" charset="0"/>
                <a:cs typeface="Times New Roman" panose="02020603050405020304" pitchFamily="18" charset="0"/>
              </a:rPr>
              <a:t>Khean</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Thye</a:t>
            </a:r>
            <a:r>
              <a:rPr lang="en-IN" sz="2000" dirty="0">
                <a:latin typeface="Times New Roman" panose="02020603050405020304" pitchFamily="18" charset="0"/>
                <a:cs typeface="Times New Roman" panose="02020603050405020304" pitchFamily="18" charset="0"/>
              </a:rPr>
              <a:t> Bea, Steven Mun Hong </a:t>
            </a:r>
            <a:r>
              <a:rPr lang="en-IN" sz="2000" dirty="0" err="1">
                <a:latin typeface="Times New Roman" panose="02020603050405020304" pitchFamily="18" charset="0"/>
                <a:cs typeface="Times New Roman" panose="02020603050405020304" pitchFamily="18" charset="0"/>
              </a:rPr>
              <a:t>Leow</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Seuk</a:t>
            </a:r>
            <a:r>
              <a:rPr lang="en-IN" sz="2000" dirty="0">
                <a:latin typeface="Times New Roman" panose="02020603050405020304" pitchFamily="18" charset="0"/>
                <a:cs typeface="Times New Roman" panose="02020603050405020304" pitchFamily="18" charset="0"/>
              </a:rPr>
              <a:t> Wai </a:t>
            </a:r>
            <a:r>
              <a:rPr lang="en-IN" sz="2000" dirty="0" err="1">
                <a:latin typeface="Times New Roman" panose="02020603050405020304" pitchFamily="18" charset="0"/>
                <a:cs typeface="Times New Roman" panose="02020603050405020304" pitchFamily="18" charset="0"/>
              </a:rPr>
              <a:t>Phoong</a:t>
            </a:r>
            <a:r>
              <a:rPr lang="en-IN" sz="2000" dirty="0">
                <a:latin typeface="Times New Roman" panose="02020603050405020304" pitchFamily="18" charset="0"/>
                <a:cs typeface="Times New Roman" panose="02020603050405020304" pitchFamily="18" charset="0"/>
              </a:rPr>
              <a:t>, Wai </a:t>
            </a:r>
            <a:r>
              <a:rPr lang="en-IN" sz="2000" dirty="0" err="1">
                <a:latin typeface="Times New Roman" panose="02020603050405020304" pitchFamily="18" charset="0"/>
                <a:cs typeface="Times New Roman" panose="02020603050405020304" pitchFamily="18" charset="0"/>
              </a:rPr>
              <a:t>Khuen</a:t>
            </a:r>
            <a:r>
              <a:rPr lang="en-IN" sz="2000" dirty="0">
                <a:latin typeface="Times New Roman" panose="02020603050405020304" pitchFamily="18" charset="0"/>
                <a:cs typeface="Times New Roman" panose="02020603050405020304" pitchFamily="18" charset="0"/>
              </a:rPr>
              <a:t> Cheng )</a:t>
            </a:r>
          </a:p>
          <a:p>
            <a:pPr marL="457200" indent="-457200" algn="just">
              <a:buAutoNum type="arabicPeriod"/>
            </a:pPr>
            <a:r>
              <a:rPr lang="en-US" sz="2000" dirty="0">
                <a:latin typeface="Times New Roman" panose="02020603050405020304" pitchFamily="18" charset="0"/>
                <a:cs typeface="Times New Roman" panose="02020603050405020304" pitchFamily="18" charset="0"/>
              </a:rPr>
              <a:t>A Survey of Knowledge Enhanced Pre-Trained Language Models (IEEE XPLORE 2020)-(</a:t>
            </a:r>
            <a:r>
              <a:rPr lang="en-IN" sz="2000" dirty="0">
                <a:latin typeface="Times New Roman" panose="02020603050405020304" pitchFamily="18" charset="0"/>
                <a:cs typeface="Times New Roman" panose="02020603050405020304" pitchFamily="18" charset="0"/>
              </a:rPr>
              <a:t>Hu, </a:t>
            </a:r>
            <a:r>
              <a:rPr lang="en-IN" sz="2000" dirty="0" err="1">
                <a:latin typeface="Times New Roman" panose="02020603050405020304" pitchFamily="18" charset="0"/>
                <a:cs typeface="Times New Roman" panose="02020603050405020304" pitchFamily="18" charset="0"/>
              </a:rPr>
              <a:t>Linmei</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Zeyi</a:t>
            </a:r>
            <a:r>
              <a:rPr lang="en-IN" sz="2000" dirty="0">
                <a:latin typeface="Times New Roman" panose="02020603050405020304" pitchFamily="18" charset="0"/>
                <a:cs typeface="Times New Roman" panose="02020603050405020304" pitchFamily="18" charset="0"/>
              </a:rPr>
              <a:t> Liu, </a:t>
            </a:r>
            <a:r>
              <a:rPr lang="en-IN" sz="2000" dirty="0" err="1">
                <a:latin typeface="Times New Roman" panose="02020603050405020304" pitchFamily="18" charset="0"/>
                <a:cs typeface="Times New Roman" panose="02020603050405020304" pitchFamily="18" charset="0"/>
              </a:rPr>
              <a:t>Ziwang</a:t>
            </a:r>
            <a:r>
              <a:rPr lang="en-IN" sz="2000" dirty="0">
                <a:latin typeface="Times New Roman" panose="02020603050405020304" pitchFamily="18" charset="0"/>
                <a:cs typeface="Times New Roman" panose="02020603050405020304" pitchFamily="18" charset="0"/>
              </a:rPr>
              <a:t> Zhao, Lei Hou, </a:t>
            </a:r>
            <a:r>
              <a:rPr lang="en-IN" sz="2000" dirty="0" err="1">
                <a:latin typeface="Times New Roman" panose="02020603050405020304" pitchFamily="18" charset="0"/>
                <a:cs typeface="Times New Roman" panose="02020603050405020304" pitchFamily="18" charset="0"/>
              </a:rPr>
              <a:t>Liqiang</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Nie</a:t>
            </a:r>
            <a:r>
              <a:rPr lang="en-IN" sz="2000" dirty="0">
                <a:latin typeface="Times New Roman" panose="02020603050405020304" pitchFamily="18" charset="0"/>
                <a:cs typeface="Times New Roman" panose="02020603050405020304" pitchFamily="18" charset="0"/>
              </a:rPr>
              <a:t>, and </a:t>
            </a:r>
            <a:r>
              <a:rPr lang="en-IN" sz="2000" dirty="0" err="1">
                <a:latin typeface="Times New Roman" panose="02020603050405020304" pitchFamily="18" charset="0"/>
                <a:cs typeface="Times New Roman" panose="02020603050405020304" pitchFamily="18" charset="0"/>
              </a:rPr>
              <a:t>Juanzi</a:t>
            </a:r>
            <a:r>
              <a:rPr lang="en-IN" sz="2000" dirty="0">
                <a:latin typeface="Times New Roman" panose="02020603050405020304" pitchFamily="18" charset="0"/>
                <a:cs typeface="Times New Roman" panose="02020603050405020304" pitchFamily="18" charset="0"/>
              </a:rPr>
              <a:t> Li )-</a:t>
            </a:r>
          </a:p>
          <a:p>
            <a:pPr marL="457200" indent="-457200" algn="just">
              <a:buAutoNum type="arabicPeriod"/>
            </a:pPr>
            <a:r>
              <a:rPr lang="en-IN" sz="2000" dirty="0">
                <a:latin typeface="Times New Roman" panose="02020603050405020304" pitchFamily="18" charset="0"/>
                <a:cs typeface="Times New Roman" panose="02020603050405020304" pitchFamily="18" charset="0"/>
              </a:rPr>
              <a:t>Sentiment analysis of product reviews: A review (IEEE XPLORE 2017) </a:t>
            </a:r>
            <a:r>
              <a:rPr lang="en-IN" sz="2000" u="sng"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Shivaprasad</a:t>
            </a:r>
            <a:r>
              <a:rPr lang="en-IN" sz="2000" dirty="0">
                <a:latin typeface="Times New Roman" panose="02020603050405020304" pitchFamily="18" charset="0"/>
                <a:cs typeface="Times New Roman" panose="02020603050405020304" pitchFamily="18" charset="0"/>
              </a:rPr>
              <a:t>, T. K. Jyoti Shetty)</a:t>
            </a:r>
          </a:p>
          <a:p>
            <a:pPr marL="457200" indent="-457200" algn="just">
              <a:buFontTx/>
              <a:buAutoNum type="arabicPeriod"/>
            </a:pPr>
            <a:r>
              <a:rPr lang="en-IN" sz="2000" dirty="0">
                <a:latin typeface="Times New Roman" panose="02020603050405020304" pitchFamily="18" charset="0"/>
                <a:cs typeface="Times New Roman" panose="02020603050405020304" pitchFamily="18" charset="0"/>
              </a:rPr>
              <a:t>A Review of Natural Language Processing Techniques for Sentiment Analysis using Pre-trained Models (IEEE XPLORE 2017) – (Cambria, Erik, </a:t>
            </a:r>
            <a:r>
              <a:rPr lang="en-IN" sz="2000" dirty="0" err="1">
                <a:latin typeface="Times New Roman" panose="02020603050405020304" pitchFamily="18" charset="0"/>
                <a:cs typeface="Times New Roman" panose="02020603050405020304" pitchFamily="18" charset="0"/>
              </a:rPr>
              <a:t>Soujanya</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Poria</a:t>
            </a:r>
            <a:r>
              <a:rPr lang="en-IN" sz="2000" dirty="0">
                <a:latin typeface="Times New Roman" panose="02020603050405020304" pitchFamily="18" charset="0"/>
                <a:cs typeface="Times New Roman" panose="02020603050405020304" pitchFamily="18" charset="0"/>
              </a:rPr>
              <a:t>, Alexander </a:t>
            </a:r>
            <a:r>
              <a:rPr lang="en-IN" sz="2000" dirty="0" err="1">
                <a:latin typeface="Times New Roman" panose="02020603050405020304" pitchFamily="18" charset="0"/>
                <a:cs typeface="Times New Roman" panose="02020603050405020304" pitchFamily="18" charset="0"/>
              </a:rPr>
              <a:t>Gelbukh</a:t>
            </a:r>
            <a:r>
              <a:rPr lang="en-IN" sz="2000" dirty="0">
                <a:latin typeface="Times New Roman" panose="02020603050405020304" pitchFamily="18" charset="0"/>
                <a:cs typeface="Times New Roman" panose="02020603050405020304" pitchFamily="18" charset="0"/>
              </a:rPr>
              <a:t>, Mike </a:t>
            </a:r>
            <a:r>
              <a:rPr lang="en-IN" sz="2000" dirty="0" err="1">
                <a:latin typeface="Times New Roman" panose="02020603050405020304" pitchFamily="18" charset="0"/>
                <a:cs typeface="Times New Roman" panose="02020603050405020304" pitchFamily="18" charset="0"/>
              </a:rPr>
              <a:t>Thelwall</a:t>
            </a:r>
            <a:r>
              <a:rPr lang="en-IN" sz="2000" dirty="0">
                <a:latin typeface="Times New Roman" panose="02020603050405020304" pitchFamily="18" charset="0"/>
                <a:cs typeface="Times New Roman" panose="02020603050405020304" pitchFamily="18" charset="0"/>
              </a:rPr>
              <a:t>)</a:t>
            </a:r>
          </a:p>
          <a:p>
            <a:pPr marL="457200" indent="-457200" algn="just">
              <a:buAutoNum type="arabicPeriod"/>
            </a:pPr>
            <a:endParaRPr lang="en-IN" sz="2000" dirty="0">
              <a:latin typeface="Arial Rounded MT Bold" panose="020F0704030504030204" pitchFamily="34" charset="0"/>
            </a:endParaRPr>
          </a:p>
          <a:p>
            <a:pPr marL="457200" indent="-457200" algn="just">
              <a:buAutoNum type="arabicPeriod"/>
            </a:pPr>
            <a:endParaRPr lang="en-IN" sz="2000" dirty="0">
              <a:latin typeface="Arial Rounded MT Bold" panose="020F0704030504030204" pitchFamily="34" charset="0"/>
            </a:endParaRPr>
          </a:p>
          <a:p>
            <a:pPr marL="457200" indent="-457200" algn="just">
              <a:buAutoNum type="arabicPeriod"/>
            </a:pPr>
            <a:endParaRPr lang="en-IN" sz="2000" dirty="0">
              <a:latin typeface="Arial Rounded MT Bold" panose="020F0704030504030204" pitchFamily="34" charset="0"/>
            </a:endParaRPr>
          </a:p>
        </p:txBody>
      </p:sp>
      <p:pic>
        <p:nvPicPr>
          <p:cNvPr id="3" name="Picture 2" descr="A black and white image of a book and a magnifying glass&#10;&#10;Description automatically generated">
            <a:extLst>
              <a:ext uri="{FF2B5EF4-FFF2-40B4-BE49-F238E27FC236}">
                <a16:creationId xmlns:a16="http://schemas.microsoft.com/office/drawing/2014/main" id="{FEBC7A47-07A6-D7EB-BF77-2C4767A92A36}"/>
              </a:ext>
            </a:extLst>
          </p:cNvPr>
          <p:cNvPicPr>
            <a:picLocks noChangeAspect="1"/>
          </p:cNvPicPr>
          <p:nvPr/>
        </p:nvPicPr>
        <p:blipFill>
          <a:blip r:embed="rId2"/>
          <a:stretch>
            <a:fillRect/>
          </a:stretch>
        </p:blipFill>
        <p:spPr>
          <a:xfrm>
            <a:off x="9747758" y="4725745"/>
            <a:ext cx="2201418" cy="2201418"/>
          </a:xfrm>
          <a:prstGeom prst="rect">
            <a:avLst/>
          </a:prstGeom>
        </p:spPr>
      </p:pic>
    </p:spTree>
    <p:extLst>
      <p:ext uri="{BB962C8B-B14F-4D97-AF65-F5344CB8AC3E}">
        <p14:creationId xmlns:p14="http://schemas.microsoft.com/office/powerpoint/2010/main" val="8403678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390CD-8505-38BA-1392-66C69F502AAC}"/>
              </a:ext>
            </a:extLst>
          </p:cNvPr>
          <p:cNvSpPr>
            <a:spLocks noGrp="1"/>
          </p:cNvSpPr>
          <p:nvPr>
            <p:ph type="title"/>
          </p:nvPr>
        </p:nvSpPr>
        <p:spPr>
          <a:xfrm>
            <a:off x="3180080" y="2686050"/>
            <a:ext cx="7152640" cy="1485900"/>
          </a:xfrm>
        </p:spPr>
        <p:txBody>
          <a:bodyPr>
            <a:normAutofit fontScale="90000"/>
          </a:bodyPr>
          <a:lstStyle/>
          <a:p>
            <a:r>
              <a:rPr lang="en-IN" sz="8800" b="1"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239460039"/>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{E81F241C-37F6-4E06-AF90-05E3A7CF2BD0}tf10001105</Template>
  <TotalTime>517</TotalTime>
  <Words>1059</Words>
  <Application>Microsoft Office PowerPoint</Application>
  <PresentationFormat>Widescreen</PresentationFormat>
  <Paragraphs>119</Paragraphs>
  <Slides>37</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37</vt:i4>
      </vt:variant>
    </vt:vector>
  </HeadingPairs>
  <TitlesOfParts>
    <vt:vector size="46" baseType="lpstr">
      <vt:lpstr>Aptos</vt:lpstr>
      <vt:lpstr>Arial</vt:lpstr>
      <vt:lpstr>Arial Rounded MT Bold</vt:lpstr>
      <vt:lpstr>Franklin Gothic Book</vt:lpstr>
      <vt:lpstr>Source Sans Pro</vt:lpstr>
      <vt:lpstr>Times New Roman</vt:lpstr>
      <vt:lpstr>Wingdings</vt:lpstr>
      <vt:lpstr>Wingdings 3</vt:lpstr>
      <vt:lpstr>Crop</vt:lpstr>
      <vt:lpstr>PowerPoint Presentation</vt:lpstr>
      <vt:lpstr>PowerPoint Presentation</vt:lpstr>
      <vt:lpstr>SENTIMENT ANALYSIS  USING NLP</vt:lpstr>
      <vt:lpstr>INTRODUCTION-</vt:lpstr>
      <vt:lpstr>Literature Survey of the Existing Systems- </vt:lpstr>
      <vt:lpstr> Limitations of Existing Systems - </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References -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Arya Raut</dc:creator>
  <cp:lastModifiedBy>Chinmay Sawant</cp:lastModifiedBy>
  <cp:revision>18</cp:revision>
  <dcterms:created xsi:type="dcterms:W3CDTF">2024-07-10T15:34:21Z</dcterms:created>
  <dcterms:modified xsi:type="dcterms:W3CDTF">2024-09-01T19:14:30Z</dcterms:modified>
</cp:coreProperties>
</file>